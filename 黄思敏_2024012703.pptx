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375" r:id="rId2"/>
    <p:sldId id="436" r:id="rId3"/>
    <p:sldId id="439" r:id="rId4"/>
    <p:sldId id="438" r:id="rId5"/>
    <p:sldId id="440" r:id="rId6"/>
    <p:sldId id="441" r:id="rId7"/>
    <p:sldId id="442" r:id="rId8"/>
    <p:sldId id="443" r:id="rId9"/>
    <p:sldId id="444" r:id="rId10"/>
    <p:sldId id="446" r:id="rId11"/>
    <p:sldId id="447" r:id="rId12"/>
    <p:sldId id="445" r:id="rId13"/>
    <p:sldId id="448" r:id="rId14"/>
    <p:sldId id="451" r:id="rId15"/>
    <p:sldId id="449" r:id="rId16"/>
    <p:sldId id="450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C39BDE65-2CF6-8543-A277-19FD19B1EDA8}">
          <p14:sldIdLst>
            <p14:sldId id="375"/>
            <p14:sldId id="436"/>
            <p14:sldId id="439"/>
            <p14:sldId id="438"/>
            <p14:sldId id="440"/>
            <p14:sldId id="441"/>
            <p14:sldId id="442"/>
            <p14:sldId id="443"/>
            <p14:sldId id="444"/>
            <p14:sldId id="446"/>
            <p14:sldId id="447"/>
            <p14:sldId id="445"/>
            <p14:sldId id="448"/>
            <p14:sldId id="451"/>
            <p14:sldId id="449"/>
            <p14:sldId id="45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hang Borui" initials="ZB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2828"/>
    <a:srgbClr val="4D4D4D"/>
    <a:srgbClr val="F8F8F8"/>
    <a:srgbClr val="FFF2CC"/>
    <a:srgbClr val="FFFFFF"/>
    <a:srgbClr val="D2181C"/>
    <a:srgbClr val="FEAF00"/>
    <a:srgbClr val="E6E6E6"/>
    <a:srgbClr val="F6C100"/>
    <a:srgbClr val="3C97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5758FB7-9AC5-4552-8A53-C91805E547FA}" styleName="主题样式 1 - 强调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994" autoAdjust="0"/>
    <p:restoredTop sz="78852" autoAdjust="0"/>
  </p:normalViewPr>
  <p:slideViewPr>
    <p:cSldViewPr snapToGrid="0">
      <p:cViewPr varScale="1">
        <p:scale>
          <a:sx n="85" d="100"/>
          <a:sy n="85" d="100"/>
        </p:scale>
        <p:origin x="704" y="1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FB6348-9706-497A-9E95-AA5189A76B9D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DD7948-AA88-4514-BDF6-F1711BD230F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6F61D-8D35-3F0B-EE18-75FF68B84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A97850A-1F0E-360E-39FE-70EC8EACCF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316BEF6-1CD9-8F56-F1E4-C4858D152D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CAB6F19-0213-A35E-2946-B96D270E96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DD7948-AA88-4514-BDF6-F1711BD230F5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40542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DD7948-AA88-4514-BDF6-F1711BD230F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31100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9D29A9-09BD-CED4-F357-8BDBC1C4C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FF19B64-9EBC-0D21-B2D4-FD32D2B853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D1AB348-BDCD-2959-B7DE-F6BFEE07BC91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23233524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DD7948-AA88-4514-BDF6-F1711BD230F5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07937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DD7948-AA88-4514-BDF6-F1711BD230F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58383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DD7948-AA88-4514-BDF6-F1711BD230F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23893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DD7948-AA88-4514-BDF6-F1711BD230F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33222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DD7948-AA88-4514-BDF6-F1711BD230F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82674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DD7948-AA88-4514-BDF6-F1711BD230F5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91796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DD7948-AA88-4514-BDF6-F1711BD230F5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08388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DD7948-AA88-4514-BDF6-F1711BD230F5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72580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DD7948-AA88-4514-BDF6-F1711BD230F5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90354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DD7948-AA88-4514-BDF6-F1711BD230F5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604866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DD7948-AA88-4514-BDF6-F1711BD230F5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457288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DD7948-AA88-4514-BDF6-F1711BD230F5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66433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AFD8FC-0611-4C63-AEFC-C9ED73E27A7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4" name="文本占位符 11"/>
          <p:cNvSpPr>
            <a:spLocks noGrp="1"/>
          </p:cNvSpPr>
          <p:nvPr>
            <p:ph type="body" sz="quarter" idx="13" hasCustomPrompt="1"/>
          </p:nvPr>
        </p:nvSpPr>
        <p:spPr>
          <a:xfrm>
            <a:off x="1595438" y="133086"/>
            <a:ext cx="9001125" cy="66833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000" b="1">
                <a:solidFill>
                  <a:srgbClr val="D22828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lvl="0"/>
            <a:r>
              <a:rPr lang="zh-CN" altLang="en-US" dirty="0"/>
              <a:t>标题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文字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AFD8FC-0611-4C63-AEFC-C9ED73E27A7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4"/>
          </p:nvPr>
        </p:nvSpPr>
        <p:spPr>
          <a:xfrm>
            <a:off x="515937" y="1104900"/>
            <a:ext cx="11160125" cy="5016500"/>
          </a:xfrm>
          <a:prstGeom prst="rect">
            <a:avLst/>
          </a:prstGeom>
        </p:spPr>
        <p:txBody>
          <a:bodyPr/>
          <a:lstStyle>
            <a:lvl1pPr marL="449580" indent="-449580">
              <a:lnSpc>
                <a:spcPct val="110000"/>
              </a:lnSpc>
              <a:buClr>
                <a:srgbClr val="883F92"/>
              </a:buClr>
              <a:buFont typeface="Wingdings" panose="05000000000000000000" pitchFamily="2" charset="2"/>
              <a:buChar char="p"/>
              <a:defRPr sz="3200" b="1">
                <a:solidFill>
                  <a:srgbClr val="4D4D4D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897255" indent="-440055">
              <a:lnSpc>
                <a:spcPct val="110000"/>
              </a:lnSpc>
              <a:buClr>
                <a:srgbClr val="883F92"/>
              </a:buClr>
              <a:buFont typeface="Wingdings" panose="05000000000000000000" pitchFamily="2" charset="2"/>
              <a:buChar char="n"/>
              <a:defRPr sz="2800">
                <a:solidFill>
                  <a:srgbClr val="4D4D4D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252855" indent="-338455">
              <a:lnSpc>
                <a:spcPct val="110000"/>
              </a:lnSpc>
              <a:buClr>
                <a:srgbClr val="883F92"/>
              </a:buClr>
              <a:buFont typeface="Wingdings" panose="05000000000000000000" pitchFamily="2" charset="2"/>
              <a:buChar char="n"/>
              <a:defRPr sz="2400">
                <a:solidFill>
                  <a:srgbClr val="4D4D4D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701800" indent="-330200">
              <a:lnSpc>
                <a:spcPct val="110000"/>
              </a:lnSpc>
              <a:buClr>
                <a:srgbClr val="883F92"/>
              </a:buClr>
              <a:buFont typeface="Wingdings" panose="05000000000000000000" pitchFamily="2" charset="2"/>
              <a:buChar char="n"/>
              <a:defRPr sz="2000">
                <a:solidFill>
                  <a:srgbClr val="4D4D4D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151380" indent="-322580">
              <a:lnSpc>
                <a:spcPct val="110000"/>
              </a:lnSpc>
              <a:buClr>
                <a:srgbClr val="883F92"/>
              </a:buClr>
              <a:buFont typeface="Wingdings" panose="05000000000000000000" pitchFamily="2" charset="2"/>
              <a:buChar char="n"/>
              <a:defRPr sz="2000">
                <a:solidFill>
                  <a:srgbClr val="4D4D4D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5" name="文本占位符 11"/>
          <p:cNvSpPr>
            <a:spLocks noGrp="1"/>
          </p:cNvSpPr>
          <p:nvPr>
            <p:ph type="body" sz="quarter" idx="13" hasCustomPrompt="1"/>
          </p:nvPr>
        </p:nvSpPr>
        <p:spPr>
          <a:xfrm>
            <a:off x="1595438" y="133086"/>
            <a:ext cx="9001125" cy="66833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000" b="1">
                <a:solidFill>
                  <a:srgbClr val="D22828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lvl="0"/>
            <a:r>
              <a:rPr lang="zh-CN" altLang="en-US" dirty="0"/>
              <a:t>标题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AFD8FC-0611-4C63-AEFC-C9ED73E27A7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4" name="文本占位符 7"/>
          <p:cNvSpPr>
            <a:spLocks noGrp="1"/>
          </p:cNvSpPr>
          <p:nvPr>
            <p:ph type="body" sz="quarter" idx="14"/>
          </p:nvPr>
        </p:nvSpPr>
        <p:spPr>
          <a:xfrm>
            <a:off x="3773884" y="1104900"/>
            <a:ext cx="4644232" cy="5016500"/>
          </a:xfrm>
          <a:prstGeom prst="rect">
            <a:avLst/>
          </a:prstGeom>
        </p:spPr>
        <p:txBody>
          <a:bodyPr/>
          <a:lstStyle>
            <a:lvl1pPr marL="449580" indent="-449580">
              <a:lnSpc>
                <a:spcPct val="110000"/>
              </a:lnSpc>
              <a:buClr>
                <a:srgbClr val="883F92"/>
              </a:buClr>
              <a:buFont typeface="Wingdings" panose="05000000000000000000" pitchFamily="2" charset="2"/>
              <a:buChar char="p"/>
              <a:defRPr sz="3200" b="1">
                <a:solidFill>
                  <a:srgbClr val="4D4D4D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897255" indent="-440055">
              <a:lnSpc>
                <a:spcPct val="110000"/>
              </a:lnSpc>
              <a:buClr>
                <a:srgbClr val="883F92"/>
              </a:buClr>
              <a:buFont typeface="Wingdings" panose="05000000000000000000" pitchFamily="2" charset="2"/>
              <a:buChar char="n"/>
              <a:defRPr sz="2800">
                <a:solidFill>
                  <a:srgbClr val="4D4D4D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252855" indent="-338455">
              <a:lnSpc>
                <a:spcPct val="110000"/>
              </a:lnSpc>
              <a:buClr>
                <a:srgbClr val="883F92"/>
              </a:buClr>
              <a:buFont typeface="Wingdings" panose="05000000000000000000" pitchFamily="2" charset="2"/>
              <a:buChar char="n"/>
              <a:defRPr sz="2400">
                <a:solidFill>
                  <a:srgbClr val="4D4D4D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701800" indent="-330200">
              <a:lnSpc>
                <a:spcPct val="110000"/>
              </a:lnSpc>
              <a:buClr>
                <a:srgbClr val="883F92"/>
              </a:buClr>
              <a:buFont typeface="Wingdings" panose="05000000000000000000" pitchFamily="2" charset="2"/>
              <a:buChar char="n"/>
              <a:defRPr sz="2000">
                <a:solidFill>
                  <a:srgbClr val="4D4D4D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151380" indent="-322580">
              <a:lnSpc>
                <a:spcPct val="110000"/>
              </a:lnSpc>
              <a:buClr>
                <a:srgbClr val="883F92"/>
              </a:buClr>
              <a:buFont typeface="Wingdings" panose="05000000000000000000" pitchFamily="2" charset="2"/>
              <a:buChar char="n"/>
              <a:defRPr sz="2000">
                <a:solidFill>
                  <a:srgbClr val="4D4D4D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6" name="文本框 5"/>
          <p:cNvSpPr txBox="1"/>
          <p:nvPr userDrawn="1"/>
        </p:nvSpPr>
        <p:spPr>
          <a:xfrm>
            <a:off x="5494867" y="53598"/>
            <a:ext cx="12022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rgbClr val="7A378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提纲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多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图片占位符 23"/>
          <p:cNvSpPr>
            <a:spLocks noGrp="1"/>
          </p:cNvSpPr>
          <p:nvPr>
            <p:ph type="pic" sz="quarter" idx="14"/>
          </p:nvPr>
        </p:nvSpPr>
        <p:spPr>
          <a:xfrm>
            <a:off x="515938" y="1416968"/>
            <a:ext cx="1274063" cy="1620000"/>
          </a:xfrm>
          <a:custGeom>
            <a:avLst/>
            <a:gdLst>
              <a:gd name="connsiteX0" fmla="*/ 0 w 1274063"/>
              <a:gd name="connsiteY0" fmla="*/ 0 h 1620000"/>
              <a:gd name="connsiteX1" fmla="*/ 1274063 w 1274063"/>
              <a:gd name="connsiteY1" fmla="*/ 0 h 1620000"/>
              <a:gd name="connsiteX2" fmla="*/ 1274063 w 1274063"/>
              <a:gd name="connsiteY2" fmla="*/ 1620000 h 1620000"/>
              <a:gd name="connsiteX3" fmla="*/ 0 w 1274063"/>
              <a:gd name="connsiteY3" fmla="*/ 1620000 h 16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4063" h="1620000">
                <a:moveTo>
                  <a:pt x="0" y="0"/>
                </a:moveTo>
                <a:lnTo>
                  <a:pt x="1274063" y="0"/>
                </a:lnTo>
                <a:lnTo>
                  <a:pt x="1274063" y="1620000"/>
                </a:lnTo>
                <a:lnTo>
                  <a:pt x="0" y="1620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AFD8FC-0611-4C63-AEFC-C9ED73E27A7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4" name="文本占位符 11"/>
          <p:cNvSpPr>
            <a:spLocks noGrp="1"/>
          </p:cNvSpPr>
          <p:nvPr>
            <p:ph type="body" sz="quarter" idx="13" hasCustomPrompt="1"/>
          </p:nvPr>
        </p:nvSpPr>
        <p:spPr>
          <a:xfrm>
            <a:off x="1595438" y="133086"/>
            <a:ext cx="9001125" cy="66833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000" b="1">
                <a:solidFill>
                  <a:srgbClr val="D22828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lvl="0"/>
            <a:r>
              <a:rPr lang="zh-CN" altLang="en-US" dirty="0"/>
              <a:t>标题</a:t>
            </a:r>
          </a:p>
        </p:txBody>
      </p:sp>
      <p:sp>
        <p:nvSpPr>
          <p:cNvPr id="25" name="图片占位符 24"/>
          <p:cNvSpPr>
            <a:spLocks noGrp="1"/>
          </p:cNvSpPr>
          <p:nvPr>
            <p:ph type="pic" sz="quarter" idx="15"/>
          </p:nvPr>
        </p:nvSpPr>
        <p:spPr>
          <a:xfrm>
            <a:off x="1928233" y="1416968"/>
            <a:ext cx="1274063" cy="1620000"/>
          </a:xfrm>
          <a:custGeom>
            <a:avLst/>
            <a:gdLst>
              <a:gd name="connsiteX0" fmla="*/ 0 w 1274063"/>
              <a:gd name="connsiteY0" fmla="*/ 0 h 1620000"/>
              <a:gd name="connsiteX1" fmla="*/ 1274063 w 1274063"/>
              <a:gd name="connsiteY1" fmla="*/ 0 h 1620000"/>
              <a:gd name="connsiteX2" fmla="*/ 1274063 w 1274063"/>
              <a:gd name="connsiteY2" fmla="*/ 1620000 h 1620000"/>
              <a:gd name="connsiteX3" fmla="*/ 0 w 1274063"/>
              <a:gd name="connsiteY3" fmla="*/ 1620000 h 16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4063" h="1620000">
                <a:moveTo>
                  <a:pt x="0" y="0"/>
                </a:moveTo>
                <a:lnTo>
                  <a:pt x="1274063" y="0"/>
                </a:lnTo>
                <a:lnTo>
                  <a:pt x="1274063" y="1620000"/>
                </a:lnTo>
                <a:lnTo>
                  <a:pt x="0" y="1620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6" name="图片占位符 25"/>
          <p:cNvSpPr>
            <a:spLocks noGrp="1"/>
          </p:cNvSpPr>
          <p:nvPr>
            <p:ph type="pic" sz="quarter" idx="16"/>
          </p:nvPr>
        </p:nvSpPr>
        <p:spPr>
          <a:xfrm>
            <a:off x="3340528" y="1416968"/>
            <a:ext cx="1274063" cy="1620000"/>
          </a:xfrm>
          <a:custGeom>
            <a:avLst/>
            <a:gdLst>
              <a:gd name="connsiteX0" fmla="*/ 0 w 1274063"/>
              <a:gd name="connsiteY0" fmla="*/ 0 h 1620000"/>
              <a:gd name="connsiteX1" fmla="*/ 1274063 w 1274063"/>
              <a:gd name="connsiteY1" fmla="*/ 0 h 1620000"/>
              <a:gd name="connsiteX2" fmla="*/ 1274063 w 1274063"/>
              <a:gd name="connsiteY2" fmla="*/ 1620000 h 1620000"/>
              <a:gd name="connsiteX3" fmla="*/ 0 w 1274063"/>
              <a:gd name="connsiteY3" fmla="*/ 1620000 h 16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4063" h="1620000">
                <a:moveTo>
                  <a:pt x="0" y="0"/>
                </a:moveTo>
                <a:lnTo>
                  <a:pt x="1274063" y="0"/>
                </a:lnTo>
                <a:lnTo>
                  <a:pt x="1274063" y="1620000"/>
                </a:lnTo>
                <a:lnTo>
                  <a:pt x="0" y="1620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7" name="图片占位符 26"/>
          <p:cNvSpPr>
            <a:spLocks noGrp="1"/>
          </p:cNvSpPr>
          <p:nvPr>
            <p:ph type="pic" sz="quarter" idx="17"/>
          </p:nvPr>
        </p:nvSpPr>
        <p:spPr>
          <a:xfrm>
            <a:off x="4752823" y="1416968"/>
            <a:ext cx="1274063" cy="1620000"/>
          </a:xfrm>
          <a:custGeom>
            <a:avLst/>
            <a:gdLst>
              <a:gd name="connsiteX0" fmla="*/ 0 w 1274063"/>
              <a:gd name="connsiteY0" fmla="*/ 0 h 1620000"/>
              <a:gd name="connsiteX1" fmla="*/ 1274063 w 1274063"/>
              <a:gd name="connsiteY1" fmla="*/ 0 h 1620000"/>
              <a:gd name="connsiteX2" fmla="*/ 1274063 w 1274063"/>
              <a:gd name="connsiteY2" fmla="*/ 1620000 h 1620000"/>
              <a:gd name="connsiteX3" fmla="*/ 0 w 1274063"/>
              <a:gd name="connsiteY3" fmla="*/ 1620000 h 16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4063" h="1620000">
                <a:moveTo>
                  <a:pt x="0" y="0"/>
                </a:moveTo>
                <a:lnTo>
                  <a:pt x="1274063" y="0"/>
                </a:lnTo>
                <a:lnTo>
                  <a:pt x="1274063" y="1620000"/>
                </a:lnTo>
                <a:lnTo>
                  <a:pt x="0" y="1620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8" name="图片占位符 27"/>
          <p:cNvSpPr>
            <a:spLocks noGrp="1"/>
          </p:cNvSpPr>
          <p:nvPr>
            <p:ph type="pic" sz="quarter" idx="18"/>
          </p:nvPr>
        </p:nvSpPr>
        <p:spPr>
          <a:xfrm>
            <a:off x="6165118" y="1416968"/>
            <a:ext cx="1274063" cy="1620000"/>
          </a:xfrm>
          <a:custGeom>
            <a:avLst/>
            <a:gdLst>
              <a:gd name="connsiteX0" fmla="*/ 0 w 1274063"/>
              <a:gd name="connsiteY0" fmla="*/ 0 h 1620000"/>
              <a:gd name="connsiteX1" fmla="*/ 1274063 w 1274063"/>
              <a:gd name="connsiteY1" fmla="*/ 0 h 1620000"/>
              <a:gd name="connsiteX2" fmla="*/ 1274063 w 1274063"/>
              <a:gd name="connsiteY2" fmla="*/ 1620000 h 1620000"/>
              <a:gd name="connsiteX3" fmla="*/ 0 w 1274063"/>
              <a:gd name="connsiteY3" fmla="*/ 1620000 h 16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4063" h="1620000">
                <a:moveTo>
                  <a:pt x="0" y="0"/>
                </a:moveTo>
                <a:lnTo>
                  <a:pt x="1274063" y="0"/>
                </a:lnTo>
                <a:lnTo>
                  <a:pt x="1274063" y="1620000"/>
                </a:lnTo>
                <a:lnTo>
                  <a:pt x="0" y="1620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9" name="图片占位符 28"/>
          <p:cNvSpPr>
            <a:spLocks noGrp="1"/>
          </p:cNvSpPr>
          <p:nvPr>
            <p:ph type="pic" sz="quarter" idx="19"/>
          </p:nvPr>
        </p:nvSpPr>
        <p:spPr>
          <a:xfrm>
            <a:off x="7577413" y="1416968"/>
            <a:ext cx="1274063" cy="1620000"/>
          </a:xfrm>
          <a:custGeom>
            <a:avLst/>
            <a:gdLst>
              <a:gd name="connsiteX0" fmla="*/ 0 w 1274063"/>
              <a:gd name="connsiteY0" fmla="*/ 0 h 1620000"/>
              <a:gd name="connsiteX1" fmla="*/ 1274063 w 1274063"/>
              <a:gd name="connsiteY1" fmla="*/ 0 h 1620000"/>
              <a:gd name="connsiteX2" fmla="*/ 1274063 w 1274063"/>
              <a:gd name="connsiteY2" fmla="*/ 1620000 h 1620000"/>
              <a:gd name="connsiteX3" fmla="*/ 0 w 1274063"/>
              <a:gd name="connsiteY3" fmla="*/ 1620000 h 16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4063" h="1620000">
                <a:moveTo>
                  <a:pt x="0" y="0"/>
                </a:moveTo>
                <a:lnTo>
                  <a:pt x="1274063" y="0"/>
                </a:lnTo>
                <a:lnTo>
                  <a:pt x="1274063" y="1620000"/>
                </a:lnTo>
                <a:lnTo>
                  <a:pt x="0" y="1620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30" name="图片占位符 29"/>
          <p:cNvSpPr>
            <a:spLocks noGrp="1"/>
          </p:cNvSpPr>
          <p:nvPr>
            <p:ph type="pic" sz="quarter" idx="20"/>
          </p:nvPr>
        </p:nvSpPr>
        <p:spPr>
          <a:xfrm>
            <a:off x="8989708" y="1416968"/>
            <a:ext cx="1274063" cy="1620000"/>
          </a:xfrm>
          <a:custGeom>
            <a:avLst/>
            <a:gdLst>
              <a:gd name="connsiteX0" fmla="*/ 0 w 1274063"/>
              <a:gd name="connsiteY0" fmla="*/ 0 h 1620000"/>
              <a:gd name="connsiteX1" fmla="*/ 1274063 w 1274063"/>
              <a:gd name="connsiteY1" fmla="*/ 0 h 1620000"/>
              <a:gd name="connsiteX2" fmla="*/ 1274063 w 1274063"/>
              <a:gd name="connsiteY2" fmla="*/ 1620000 h 1620000"/>
              <a:gd name="connsiteX3" fmla="*/ 0 w 1274063"/>
              <a:gd name="connsiteY3" fmla="*/ 1620000 h 16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4063" h="1620000">
                <a:moveTo>
                  <a:pt x="0" y="0"/>
                </a:moveTo>
                <a:lnTo>
                  <a:pt x="1274063" y="0"/>
                </a:lnTo>
                <a:lnTo>
                  <a:pt x="1274063" y="1620000"/>
                </a:lnTo>
                <a:lnTo>
                  <a:pt x="0" y="1620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31" name="图片占位符 30"/>
          <p:cNvSpPr>
            <a:spLocks noGrp="1"/>
          </p:cNvSpPr>
          <p:nvPr>
            <p:ph type="pic" sz="quarter" idx="21"/>
          </p:nvPr>
        </p:nvSpPr>
        <p:spPr>
          <a:xfrm>
            <a:off x="10402000" y="1416968"/>
            <a:ext cx="1274063" cy="1620000"/>
          </a:xfrm>
          <a:custGeom>
            <a:avLst/>
            <a:gdLst>
              <a:gd name="connsiteX0" fmla="*/ 0 w 1274063"/>
              <a:gd name="connsiteY0" fmla="*/ 0 h 1620000"/>
              <a:gd name="connsiteX1" fmla="*/ 1274063 w 1274063"/>
              <a:gd name="connsiteY1" fmla="*/ 0 h 1620000"/>
              <a:gd name="connsiteX2" fmla="*/ 1274063 w 1274063"/>
              <a:gd name="connsiteY2" fmla="*/ 1620000 h 1620000"/>
              <a:gd name="connsiteX3" fmla="*/ 0 w 1274063"/>
              <a:gd name="connsiteY3" fmla="*/ 1620000 h 16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4063" h="1620000">
                <a:moveTo>
                  <a:pt x="0" y="0"/>
                </a:moveTo>
                <a:lnTo>
                  <a:pt x="1274063" y="0"/>
                </a:lnTo>
                <a:lnTo>
                  <a:pt x="1274063" y="1620000"/>
                </a:lnTo>
                <a:lnTo>
                  <a:pt x="0" y="1620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33" name="文本占位符 32"/>
          <p:cNvSpPr>
            <a:spLocks noGrp="1"/>
          </p:cNvSpPr>
          <p:nvPr>
            <p:ph type="body" sz="quarter" idx="22" hasCustomPrompt="1"/>
          </p:nvPr>
        </p:nvSpPr>
        <p:spPr>
          <a:xfrm>
            <a:off x="620712" y="3269570"/>
            <a:ext cx="1064514" cy="31886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lvl="0"/>
            <a:r>
              <a:rPr lang="zh-CN" altLang="en-US" dirty="0"/>
              <a:t>姓名</a:t>
            </a:r>
          </a:p>
        </p:txBody>
      </p:sp>
      <p:sp>
        <p:nvSpPr>
          <p:cNvPr id="35" name="文本占位符 32"/>
          <p:cNvSpPr>
            <a:spLocks noGrp="1"/>
          </p:cNvSpPr>
          <p:nvPr>
            <p:ph type="body" sz="quarter" idx="23" hasCustomPrompt="1"/>
          </p:nvPr>
        </p:nvSpPr>
        <p:spPr>
          <a:xfrm>
            <a:off x="2033007" y="3269570"/>
            <a:ext cx="1064514" cy="31886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lvl="0"/>
            <a:r>
              <a:rPr lang="zh-CN" altLang="en-US" dirty="0"/>
              <a:t>姓名</a:t>
            </a:r>
          </a:p>
        </p:txBody>
      </p:sp>
      <p:sp>
        <p:nvSpPr>
          <p:cNvPr id="36" name="文本占位符 32"/>
          <p:cNvSpPr>
            <a:spLocks noGrp="1"/>
          </p:cNvSpPr>
          <p:nvPr>
            <p:ph type="body" sz="quarter" idx="24" hasCustomPrompt="1"/>
          </p:nvPr>
        </p:nvSpPr>
        <p:spPr>
          <a:xfrm>
            <a:off x="3445302" y="3269570"/>
            <a:ext cx="1064514" cy="31886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lvl="0"/>
            <a:r>
              <a:rPr lang="zh-CN" altLang="en-US" dirty="0"/>
              <a:t>姓名</a:t>
            </a:r>
          </a:p>
        </p:txBody>
      </p:sp>
      <p:sp>
        <p:nvSpPr>
          <p:cNvPr id="37" name="文本占位符 32"/>
          <p:cNvSpPr>
            <a:spLocks noGrp="1"/>
          </p:cNvSpPr>
          <p:nvPr>
            <p:ph type="body" sz="quarter" idx="25" hasCustomPrompt="1"/>
          </p:nvPr>
        </p:nvSpPr>
        <p:spPr>
          <a:xfrm>
            <a:off x="4857597" y="3269570"/>
            <a:ext cx="1064514" cy="31886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lvl="0"/>
            <a:r>
              <a:rPr lang="zh-CN" altLang="en-US" dirty="0"/>
              <a:t>姓名</a:t>
            </a:r>
          </a:p>
        </p:txBody>
      </p:sp>
      <p:sp>
        <p:nvSpPr>
          <p:cNvPr id="38" name="文本占位符 32"/>
          <p:cNvSpPr>
            <a:spLocks noGrp="1"/>
          </p:cNvSpPr>
          <p:nvPr>
            <p:ph type="body" sz="quarter" idx="26" hasCustomPrompt="1"/>
          </p:nvPr>
        </p:nvSpPr>
        <p:spPr>
          <a:xfrm>
            <a:off x="6269892" y="3269570"/>
            <a:ext cx="1064514" cy="31886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lvl="0"/>
            <a:r>
              <a:rPr lang="zh-CN" altLang="en-US" dirty="0"/>
              <a:t>姓名</a:t>
            </a:r>
          </a:p>
        </p:txBody>
      </p:sp>
      <p:sp>
        <p:nvSpPr>
          <p:cNvPr id="39" name="文本占位符 32"/>
          <p:cNvSpPr>
            <a:spLocks noGrp="1"/>
          </p:cNvSpPr>
          <p:nvPr>
            <p:ph type="body" sz="quarter" idx="27" hasCustomPrompt="1"/>
          </p:nvPr>
        </p:nvSpPr>
        <p:spPr>
          <a:xfrm>
            <a:off x="7682187" y="3269570"/>
            <a:ext cx="1064514" cy="31886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lvl="0"/>
            <a:r>
              <a:rPr lang="zh-CN" altLang="en-US" dirty="0"/>
              <a:t>姓名</a:t>
            </a:r>
          </a:p>
        </p:txBody>
      </p:sp>
      <p:sp>
        <p:nvSpPr>
          <p:cNvPr id="40" name="文本占位符 32"/>
          <p:cNvSpPr>
            <a:spLocks noGrp="1"/>
          </p:cNvSpPr>
          <p:nvPr>
            <p:ph type="body" sz="quarter" idx="28" hasCustomPrompt="1"/>
          </p:nvPr>
        </p:nvSpPr>
        <p:spPr>
          <a:xfrm>
            <a:off x="9094482" y="3269570"/>
            <a:ext cx="1064514" cy="31886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lvl="0"/>
            <a:r>
              <a:rPr lang="zh-CN" altLang="en-US" dirty="0"/>
              <a:t>姓名</a:t>
            </a:r>
          </a:p>
        </p:txBody>
      </p:sp>
      <p:sp>
        <p:nvSpPr>
          <p:cNvPr id="41" name="文本占位符 32"/>
          <p:cNvSpPr>
            <a:spLocks noGrp="1"/>
          </p:cNvSpPr>
          <p:nvPr>
            <p:ph type="body" sz="quarter" idx="29" hasCustomPrompt="1"/>
          </p:nvPr>
        </p:nvSpPr>
        <p:spPr>
          <a:xfrm>
            <a:off x="10506774" y="3269570"/>
            <a:ext cx="1064514" cy="31886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lvl="0"/>
            <a:r>
              <a:rPr lang="zh-CN" altLang="en-US" dirty="0"/>
              <a:t>姓名</a:t>
            </a:r>
          </a:p>
        </p:txBody>
      </p:sp>
      <p:sp>
        <p:nvSpPr>
          <p:cNvPr id="58" name="图片占位符 57"/>
          <p:cNvSpPr>
            <a:spLocks noGrp="1"/>
          </p:cNvSpPr>
          <p:nvPr>
            <p:ph type="pic" sz="quarter" idx="30"/>
          </p:nvPr>
        </p:nvSpPr>
        <p:spPr>
          <a:xfrm>
            <a:off x="515938" y="3958149"/>
            <a:ext cx="1274063" cy="1620000"/>
          </a:xfrm>
          <a:custGeom>
            <a:avLst/>
            <a:gdLst>
              <a:gd name="connsiteX0" fmla="*/ 0 w 1274063"/>
              <a:gd name="connsiteY0" fmla="*/ 0 h 1620000"/>
              <a:gd name="connsiteX1" fmla="*/ 1274063 w 1274063"/>
              <a:gd name="connsiteY1" fmla="*/ 0 h 1620000"/>
              <a:gd name="connsiteX2" fmla="*/ 1274063 w 1274063"/>
              <a:gd name="connsiteY2" fmla="*/ 1620000 h 1620000"/>
              <a:gd name="connsiteX3" fmla="*/ 0 w 1274063"/>
              <a:gd name="connsiteY3" fmla="*/ 1620000 h 16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4063" h="1620000">
                <a:moveTo>
                  <a:pt x="0" y="0"/>
                </a:moveTo>
                <a:lnTo>
                  <a:pt x="1274063" y="0"/>
                </a:lnTo>
                <a:lnTo>
                  <a:pt x="1274063" y="1620000"/>
                </a:lnTo>
                <a:lnTo>
                  <a:pt x="0" y="1620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9" name="图片占位符 58"/>
          <p:cNvSpPr>
            <a:spLocks noGrp="1"/>
          </p:cNvSpPr>
          <p:nvPr>
            <p:ph type="pic" sz="quarter" idx="31"/>
          </p:nvPr>
        </p:nvSpPr>
        <p:spPr>
          <a:xfrm>
            <a:off x="1928233" y="3958149"/>
            <a:ext cx="1274063" cy="1620000"/>
          </a:xfrm>
          <a:custGeom>
            <a:avLst/>
            <a:gdLst>
              <a:gd name="connsiteX0" fmla="*/ 0 w 1274063"/>
              <a:gd name="connsiteY0" fmla="*/ 0 h 1620000"/>
              <a:gd name="connsiteX1" fmla="*/ 1274063 w 1274063"/>
              <a:gd name="connsiteY1" fmla="*/ 0 h 1620000"/>
              <a:gd name="connsiteX2" fmla="*/ 1274063 w 1274063"/>
              <a:gd name="connsiteY2" fmla="*/ 1620000 h 1620000"/>
              <a:gd name="connsiteX3" fmla="*/ 0 w 1274063"/>
              <a:gd name="connsiteY3" fmla="*/ 1620000 h 16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4063" h="1620000">
                <a:moveTo>
                  <a:pt x="0" y="0"/>
                </a:moveTo>
                <a:lnTo>
                  <a:pt x="1274063" y="0"/>
                </a:lnTo>
                <a:lnTo>
                  <a:pt x="1274063" y="1620000"/>
                </a:lnTo>
                <a:lnTo>
                  <a:pt x="0" y="1620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0" name="图片占位符 59"/>
          <p:cNvSpPr>
            <a:spLocks noGrp="1"/>
          </p:cNvSpPr>
          <p:nvPr>
            <p:ph type="pic" sz="quarter" idx="32"/>
          </p:nvPr>
        </p:nvSpPr>
        <p:spPr>
          <a:xfrm>
            <a:off x="3340528" y="3958149"/>
            <a:ext cx="1274063" cy="1620000"/>
          </a:xfrm>
          <a:custGeom>
            <a:avLst/>
            <a:gdLst>
              <a:gd name="connsiteX0" fmla="*/ 0 w 1274063"/>
              <a:gd name="connsiteY0" fmla="*/ 0 h 1620000"/>
              <a:gd name="connsiteX1" fmla="*/ 1274063 w 1274063"/>
              <a:gd name="connsiteY1" fmla="*/ 0 h 1620000"/>
              <a:gd name="connsiteX2" fmla="*/ 1274063 w 1274063"/>
              <a:gd name="connsiteY2" fmla="*/ 1620000 h 1620000"/>
              <a:gd name="connsiteX3" fmla="*/ 0 w 1274063"/>
              <a:gd name="connsiteY3" fmla="*/ 1620000 h 16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4063" h="1620000">
                <a:moveTo>
                  <a:pt x="0" y="0"/>
                </a:moveTo>
                <a:lnTo>
                  <a:pt x="1274063" y="0"/>
                </a:lnTo>
                <a:lnTo>
                  <a:pt x="1274063" y="1620000"/>
                </a:lnTo>
                <a:lnTo>
                  <a:pt x="0" y="1620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1" name="图片占位符 60"/>
          <p:cNvSpPr>
            <a:spLocks noGrp="1"/>
          </p:cNvSpPr>
          <p:nvPr>
            <p:ph type="pic" sz="quarter" idx="33"/>
          </p:nvPr>
        </p:nvSpPr>
        <p:spPr>
          <a:xfrm>
            <a:off x="4752823" y="3958149"/>
            <a:ext cx="1274063" cy="1620000"/>
          </a:xfrm>
          <a:custGeom>
            <a:avLst/>
            <a:gdLst>
              <a:gd name="connsiteX0" fmla="*/ 0 w 1274063"/>
              <a:gd name="connsiteY0" fmla="*/ 0 h 1620000"/>
              <a:gd name="connsiteX1" fmla="*/ 1274063 w 1274063"/>
              <a:gd name="connsiteY1" fmla="*/ 0 h 1620000"/>
              <a:gd name="connsiteX2" fmla="*/ 1274063 w 1274063"/>
              <a:gd name="connsiteY2" fmla="*/ 1620000 h 1620000"/>
              <a:gd name="connsiteX3" fmla="*/ 0 w 1274063"/>
              <a:gd name="connsiteY3" fmla="*/ 1620000 h 16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4063" h="1620000">
                <a:moveTo>
                  <a:pt x="0" y="0"/>
                </a:moveTo>
                <a:lnTo>
                  <a:pt x="1274063" y="0"/>
                </a:lnTo>
                <a:lnTo>
                  <a:pt x="1274063" y="1620000"/>
                </a:lnTo>
                <a:lnTo>
                  <a:pt x="0" y="1620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2" name="图片占位符 61"/>
          <p:cNvSpPr>
            <a:spLocks noGrp="1"/>
          </p:cNvSpPr>
          <p:nvPr>
            <p:ph type="pic" sz="quarter" idx="34"/>
          </p:nvPr>
        </p:nvSpPr>
        <p:spPr>
          <a:xfrm>
            <a:off x="6165118" y="3958149"/>
            <a:ext cx="1274063" cy="1620000"/>
          </a:xfrm>
          <a:custGeom>
            <a:avLst/>
            <a:gdLst>
              <a:gd name="connsiteX0" fmla="*/ 0 w 1274063"/>
              <a:gd name="connsiteY0" fmla="*/ 0 h 1620000"/>
              <a:gd name="connsiteX1" fmla="*/ 1274063 w 1274063"/>
              <a:gd name="connsiteY1" fmla="*/ 0 h 1620000"/>
              <a:gd name="connsiteX2" fmla="*/ 1274063 w 1274063"/>
              <a:gd name="connsiteY2" fmla="*/ 1620000 h 1620000"/>
              <a:gd name="connsiteX3" fmla="*/ 0 w 1274063"/>
              <a:gd name="connsiteY3" fmla="*/ 1620000 h 16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4063" h="1620000">
                <a:moveTo>
                  <a:pt x="0" y="0"/>
                </a:moveTo>
                <a:lnTo>
                  <a:pt x="1274063" y="0"/>
                </a:lnTo>
                <a:lnTo>
                  <a:pt x="1274063" y="1620000"/>
                </a:lnTo>
                <a:lnTo>
                  <a:pt x="0" y="1620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3" name="图片占位符 62"/>
          <p:cNvSpPr>
            <a:spLocks noGrp="1"/>
          </p:cNvSpPr>
          <p:nvPr>
            <p:ph type="pic" sz="quarter" idx="35"/>
          </p:nvPr>
        </p:nvSpPr>
        <p:spPr>
          <a:xfrm>
            <a:off x="7577413" y="3958149"/>
            <a:ext cx="1274063" cy="1620000"/>
          </a:xfrm>
          <a:custGeom>
            <a:avLst/>
            <a:gdLst>
              <a:gd name="connsiteX0" fmla="*/ 0 w 1274063"/>
              <a:gd name="connsiteY0" fmla="*/ 0 h 1620000"/>
              <a:gd name="connsiteX1" fmla="*/ 1274063 w 1274063"/>
              <a:gd name="connsiteY1" fmla="*/ 0 h 1620000"/>
              <a:gd name="connsiteX2" fmla="*/ 1274063 w 1274063"/>
              <a:gd name="connsiteY2" fmla="*/ 1620000 h 1620000"/>
              <a:gd name="connsiteX3" fmla="*/ 0 w 1274063"/>
              <a:gd name="connsiteY3" fmla="*/ 1620000 h 16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4063" h="1620000">
                <a:moveTo>
                  <a:pt x="0" y="0"/>
                </a:moveTo>
                <a:lnTo>
                  <a:pt x="1274063" y="0"/>
                </a:lnTo>
                <a:lnTo>
                  <a:pt x="1274063" y="1620000"/>
                </a:lnTo>
                <a:lnTo>
                  <a:pt x="0" y="1620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4" name="图片占位符 63"/>
          <p:cNvSpPr>
            <a:spLocks noGrp="1"/>
          </p:cNvSpPr>
          <p:nvPr>
            <p:ph type="pic" sz="quarter" idx="36"/>
          </p:nvPr>
        </p:nvSpPr>
        <p:spPr>
          <a:xfrm>
            <a:off x="8989708" y="3958149"/>
            <a:ext cx="1274063" cy="1620000"/>
          </a:xfrm>
          <a:custGeom>
            <a:avLst/>
            <a:gdLst>
              <a:gd name="connsiteX0" fmla="*/ 0 w 1274063"/>
              <a:gd name="connsiteY0" fmla="*/ 0 h 1620000"/>
              <a:gd name="connsiteX1" fmla="*/ 1274063 w 1274063"/>
              <a:gd name="connsiteY1" fmla="*/ 0 h 1620000"/>
              <a:gd name="connsiteX2" fmla="*/ 1274063 w 1274063"/>
              <a:gd name="connsiteY2" fmla="*/ 1620000 h 1620000"/>
              <a:gd name="connsiteX3" fmla="*/ 0 w 1274063"/>
              <a:gd name="connsiteY3" fmla="*/ 1620000 h 16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4063" h="1620000">
                <a:moveTo>
                  <a:pt x="0" y="0"/>
                </a:moveTo>
                <a:lnTo>
                  <a:pt x="1274063" y="0"/>
                </a:lnTo>
                <a:lnTo>
                  <a:pt x="1274063" y="1620000"/>
                </a:lnTo>
                <a:lnTo>
                  <a:pt x="0" y="1620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5" name="图片占位符 64"/>
          <p:cNvSpPr>
            <a:spLocks noGrp="1"/>
          </p:cNvSpPr>
          <p:nvPr>
            <p:ph type="pic" sz="quarter" idx="37"/>
          </p:nvPr>
        </p:nvSpPr>
        <p:spPr>
          <a:xfrm>
            <a:off x="10402000" y="3958149"/>
            <a:ext cx="1274063" cy="1620000"/>
          </a:xfrm>
          <a:custGeom>
            <a:avLst/>
            <a:gdLst>
              <a:gd name="connsiteX0" fmla="*/ 0 w 1274063"/>
              <a:gd name="connsiteY0" fmla="*/ 0 h 1620000"/>
              <a:gd name="connsiteX1" fmla="*/ 1274063 w 1274063"/>
              <a:gd name="connsiteY1" fmla="*/ 0 h 1620000"/>
              <a:gd name="connsiteX2" fmla="*/ 1274063 w 1274063"/>
              <a:gd name="connsiteY2" fmla="*/ 1620000 h 1620000"/>
              <a:gd name="connsiteX3" fmla="*/ 0 w 1274063"/>
              <a:gd name="connsiteY3" fmla="*/ 1620000 h 16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4063" h="1620000">
                <a:moveTo>
                  <a:pt x="0" y="0"/>
                </a:moveTo>
                <a:lnTo>
                  <a:pt x="1274063" y="0"/>
                </a:lnTo>
                <a:lnTo>
                  <a:pt x="1274063" y="1620000"/>
                </a:lnTo>
                <a:lnTo>
                  <a:pt x="0" y="1620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6" name="文本占位符 32"/>
          <p:cNvSpPr>
            <a:spLocks noGrp="1"/>
          </p:cNvSpPr>
          <p:nvPr>
            <p:ph type="body" sz="quarter" idx="38" hasCustomPrompt="1"/>
          </p:nvPr>
        </p:nvSpPr>
        <p:spPr>
          <a:xfrm>
            <a:off x="620712" y="5810751"/>
            <a:ext cx="1064514" cy="31886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lvl="0"/>
            <a:r>
              <a:rPr lang="zh-CN" altLang="en-US" dirty="0"/>
              <a:t>姓名</a:t>
            </a:r>
          </a:p>
        </p:txBody>
      </p:sp>
      <p:sp>
        <p:nvSpPr>
          <p:cNvPr id="67" name="文本占位符 32"/>
          <p:cNvSpPr>
            <a:spLocks noGrp="1"/>
          </p:cNvSpPr>
          <p:nvPr>
            <p:ph type="body" sz="quarter" idx="39" hasCustomPrompt="1"/>
          </p:nvPr>
        </p:nvSpPr>
        <p:spPr>
          <a:xfrm>
            <a:off x="2033007" y="5810751"/>
            <a:ext cx="1064514" cy="31886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lvl="0"/>
            <a:r>
              <a:rPr lang="zh-CN" altLang="en-US" dirty="0"/>
              <a:t>姓名</a:t>
            </a:r>
          </a:p>
        </p:txBody>
      </p:sp>
      <p:sp>
        <p:nvSpPr>
          <p:cNvPr id="68" name="文本占位符 32"/>
          <p:cNvSpPr>
            <a:spLocks noGrp="1"/>
          </p:cNvSpPr>
          <p:nvPr>
            <p:ph type="body" sz="quarter" idx="40" hasCustomPrompt="1"/>
          </p:nvPr>
        </p:nvSpPr>
        <p:spPr>
          <a:xfrm>
            <a:off x="3445302" y="5810751"/>
            <a:ext cx="1064514" cy="31886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lvl="0"/>
            <a:r>
              <a:rPr lang="zh-CN" altLang="en-US" dirty="0"/>
              <a:t>姓名</a:t>
            </a:r>
          </a:p>
        </p:txBody>
      </p:sp>
      <p:sp>
        <p:nvSpPr>
          <p:cNvPr id="69" name="文本占位符 32"/>
          <p:cNvSpPr>
            <a:spLocks noGrp="1"/>
          </p:cNvSpPr>
          <p:nvPr>
            <p:ph type="body" sz="quarter" idx="41" hasCustomPrompt="1"/>
          </p:nvPr>
        </p:nvSpPr>
        <p:spPr>
          <a:xfrm>
            <a:off x="4857597" y="5810751"/>
            <a:ext cx="1064514" cy="31886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lvl="0"/>
            <a:r>
              <a:rPr lang="zh-CN" altLang="en-US" dirty="0"/>
              <a:t>姓名</a:t>
            </a:r>
          </a:p>
        </p:txBody>
      </p:sp>
      <p:sp>
        <p:nvSpPr>
          <p:cNvPr id="70" name="文本占位符 32"/>
          <p:cNvSpPr>
            <a:spLocks noGrp="1"/>
          </p:cNvSpPr>
          <p:nvPr>
            <p:ph type="body" sz="quarter" idx="42" hasCustomPrompt="1"/>
          </p:nvPr>
        </p:nvSpPr>
        <p:spPr>
          <a:xfrm>
            <a:off x="6269892" y="5810751"/>
            <a:ext cx="1064514" cy="31886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lvl="0"/>
            <a:r>
              <a:rPr lang="zh-CN" altLang="en-US" dirty="0"/>
              <a:t>姓名</a:t>
            </a:r>
          </a:p>
        </p:txBody>
      </p:sp>
      <p:sp>
        <p:nvSpPr>
          <p:cNvPr id="71" name="文本占位符 32"/>
          <p:cNvSpPr>
            <a:spLocks noGrp="1"/>
          </p:cNvSpPr>
          <p:nvPr>
            <p:ph type="body" sz="quarter" idx="43" hasCustomPrompt="1"/>
          </p:nvPr>
        </p:nvSpPr>
        <p:spPr>
          <a:xfrm>
            <a:off x="7682187" y="5810751"/>
            <a:ext cx="1064514" cy="31886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lvl="0"/>
            <a:r>
              <a:rPr lang="zh-CN" altLang="en-US" dirty="0"/>
              <a:t>姓名</a:t>
            </a:r>
          </a:p>
        </p:txBody>
      </p:sp>
      <p:sp>
        <p:nvSpPr>
          <p:cNvPr id="72" name="文本占位符 32"/>
          <p:cNvSpPr>
            <a:spLocks noGrp="1"/>
          </p:cNvSpPr>
          <p:nvPr>
            <p:ph type="body" sz="quarter" idx="44" hasCustomPrompt="1"/>
          </p:nvPr>
        </p:nvSpPr>
        <p:spPr>
          <a:xfrm>
            <a:off x="9094482" y="5810751"/>
            <a:ext cx="1064514" cy="31886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lvl="0"/>
            <a:r>
              <a:rPr lang="zh-CN" altLang="en-US" dirty="0"/>
              <a:t>姓名</a:t>
            </a:r>
          </a:p>
        </p:txBody>
      </p:sp>
      <p:sp>
        <p:nvSpPr>
          <p:cNvPr id="73" name="文本占位符 32"/>
          <p:cNvSpPr>
            <a:spLocks noGrp="1"/>
          </p:cNvSpPr>
          <p:nvPr>
            <p:ph type="body" sz="quarter" idx="45" hasCustomPrompt="1"/>
          </p:nvPr>
        </p:nvSpPr>
        <p:spPr>
          <a:xfrm>
            <a:off x="10506774" y="5810751"/>
            <a:ext cx="1064514" cy="31886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lvl="0"/>
            <a:r>
              <a:rPr lang="zh-CN" altLang="en-US" dirty="0"/>
              <a:t>姓名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microsoft.com/office/2007/relationships/hdphoto" Target="../media/hdphoto2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0693399" y="205578"/>
            <a:ext cx="13467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AFD8FC-0611-4C63-AEFC-C9ED73E27A74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515938" y="908050"/>
            <a:ext cx="11160125" cy="0"/>
          </a:xfrm>
          <a:prstGeom prst="line">
            <a:avLst/>
          </a:prstGeom>
          <a:ln w="38100" cap="rnd">
            <a:solidFill>
              <a:srgbClr val="863D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/>
          <p:cNvGrpSpPr/>
          <p:nvPr userDrawn="1"/>
        </p:nvGrpSpPr>
        <p:grpSpPr>
          <a:xfrm>
            <a:off x="151872" y="205578"/>
            <a:ext cx="1560906" cy="554630"/>
            <a:chOff x="438150" y="192932"/>
            <a:chExt cx="1560906" cy="554630"/>
          </a:xfrm>
        </p:grpSpPr>
        <p:sp>
          <p:nvSpPr>
            <p:cNvPr id="18" name="文本框 17"/>
            <p:cNvSpPr txBox="1"/>
            <p:nvPr userDrawn="1"/>
          </p:nvSpPr>
          <p:spPr>
            <a:xfrm>
              <a:off x="854191" y="493646"/>
              <a:ext cx="1144865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000" b="1" dirty="0" err="1">
                  <a:solidFill>
                    <a:srgbClr val="8B3382"/>
                  </a:solidFill>
                  <a:latin typeface="Bookman Old Style" panose="02050604050505020204" pitchFamily="18" charset="0"/>
                </a:rPr>
                <a:t>i-VisionGroup</a:t>
              </a:r>
              <a:endParaRPr lang="zh-CN" altLang="en-US" sz="1000" b="1" dirty="0">
                <a:solidFill>
                  <a:srgbClr val="8B3382"/>
                </a:solidFill>
                <a:latin typeface="Bookman Old Style" panose="02050604050505020204" pitchFamily="18" charset="0"/>
              </a:endParaRPr>
            </a:p>
          </p:txBody>
        </p:sp>
        <p:pic>
          <p:nvPicPr>
            <p:cNvPr id="9" name="图片 8"/>
            <p:cNvPicPr>
              <a:picLocks noChangeAspect="1"/>
            </p:cNvPicPr>
            <p:nvPr userDrawn="1"/>
          </p:nvPicPr>
          <p:blipFill>
            <a:blip r:embed="rId6" cstate="hqprint">
              <a:clrChange>
                <a:clrFrom>
                  <a:srgbClr val="FEFDF8"/>
                </a:clrFrom>
                <a:clrTo>
                  <a:srgbClr val="FEFDF8">
                    <a:alpha val="0"/>
                  </a:srgbClr>
                </a:clrTo>
              </a:clrChange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colorTemperature colorTemp="7143"/>
                      </a14:imgEffect>
                      <a14:imgEffect>
                        <a14:saturation sat="66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8150" y="205578"/>
              <a:ext cx="478611" cy="478611"/>
            </a:xfrm>
            <a:prstGeom prst="rect">
              <a:avLst/>
            </a:prstGeom>
          </p:spPr>
        </p:pic>
        <p:pic>
          <p:nvPicPr>
            <p:cNvPr id="5" name="图片 4"/>
            <p:cNvPicPr>
              <a:picLocks noChangeAspect="1"/>
            </p:cNvPicPr>
            <p:nvPr userDrawn="1"/>
          </p:nvPicPr>
          <p:blipFill>
            <a:blip r:embed="rId8" cstate="hq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saturation sat="15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3837" y="192932"/>
              <a:ext cx="985573" cy="37777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AFD8FC-0611-4C63-AEFC-C9ED73E27A74}" type="slidenum">
              <a:rPr lang="zh-CN" altLang="en-US" smtClean="0"/>
              <a:t>1</a:t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595754" y="2105561"/>
            <a:ext cx="9097645" cy="132343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kumimoji="1" lang="zh-CN" altLang="en-US" sz="4000" b="1" dirty="0">
                <a:solidFill>
                  <a:srgbClr val="D22828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  <a:sym typeface="OS小狗笨笨黑体" panose="02000503000000000000" charset="-122"/>
              </a:rPr>
              <a:t>基于多种机器学习算法的网格导航动作预测方法比较研究</a:t>
            </a:r>
            <a:endParaRPr kumimoji="1" lang="en-US" altLang="zh-CN" sz="4000" b="1" dirty="0">
              <a:solidFill>
                <a:srgbClr val="D22828"/>
              </a:solidFill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  <a:sym typeface="OS小狗笨笨黑体" panose="02000503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0E5E2AA-A454-1171-972D-E87A76F26901}"/>
              </a:ext>
            </a:extLst>
          </p:cNvPr>
          <p:cNvSpPr txBox="1"/>
          <p:nvPr/>
        </p:nvSpPr>
        <p:spPr>
          <a:xfrm>
            <a:off x="3046926" y="3673248"/>
            <a:ext cx="6098146" cy="1113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dirty="0">
                <a:solidFill>
                  <a:srgbClr val="4D4D4D"/>
                </a:solidFill>
                <a:latin typeface="FangSong" panose="02010609060101010101" pitchFamily="49" charset="-122"/>
                <a:ea typeface="FangSong" panose="02010609060101010101" pitchFamily="49" charset="-122"/>
                <a:sym typeface="OS小狗笨笨黑体" panose="02000503000000000000" charset="-122"/>
              </a:rPr>
              <a:t>黄思敏 </a:t>
            </a:r>
            <a:r>
              <a:rPr lang="en-US" altLang="zh-CN" sz="2400" dirty="0">
                <a:solidFill>
                  <a:srgbClr val="4D4D4D"/>
                </a:solidFill>
                <a:latin typeface="FangSong" panose="02010609060101010101" pitchFamily="49" charset="-122"/>
                <a:ea typeface="FangSong" panose="02010609060101010101" pitchFamily="49" charset="-122"/>
                <a:sym typeface="OS小狗笨笨黑体" panose="02000503000000000000" charset="-122"/>
              </a:rPr>
              <a:t>2024012703</a:t>
            </a:r>
          </a:p>
          <a:p>
            <a:pPr algn="ctr">
              <a:lnSpc>
                <a:spcPct val="150000"/>
              </a:lnSpc>
            </a:pPr>
            <a:r>
              <a:rPr lang="en-US" altLang="zh-CN" sz="2400" dirty="0">
                <a:solidFill>
                  <a:srgbClr val="4D4D4D"/>
                </a:solidFill>
                <a:latin typeface="FangSong" panose="02010609060101010101" pitchFamily="49" charset="-122"/>
                <a:ea typeface="FangSong" panose="02010609060101010101" pitchFamily="49" charset="-122"/>
                <a:sym typeface="OS小狗笨笨黑体" panose="02000503000000000000" charset="-122"/>
              </a:rPr>
              <a:t>2026.6.4</a:t>
            </a:r>
            <a:endParaRPr lang="zh-CN" altLang="en-US" sz="2400" dirty="0">
              <a:solidFill>
                <a:srgbClr val="4D4D4D"/>
              </a:solidFill>
              <a:latin typeface="FangSong" panose="02010609060101010101" pitchFamily="49" charset="-122"/>
              <a:ea typeface="FangSong" panose="02010609060101010101" pitchFamily="49" charset="-122"/>
              <a:sym typeface="OS小狗笨笨黑体" panose="02000503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780192-242C-1A9E-AFAF-2C8E2F536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A2D0586-AA2B-92DD-6FCF-C9166BA797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AFD8FC-0611-4C63-AEFC-C9ED73E27A74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9A22C26-EC60-A256-0D66-6FF696D8E37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实验选题、研究目标及总体完成情况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研究背景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&amp;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 问题定义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数据集构造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特征设计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代码结构与主要功能模块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实验结果，分析与结论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问题、挑战及解决方案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24AA553-AC7E-0FF0-2957-01E297B4885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zh-CN" altLang="en-US" dirty="0"/>
              <a:t>大纲</a:t>
            </a:r>
          </a:p>
        </p:txBody>
      </p:sp>
    </p:spTree>
    <p:extLst>
      <p:ext uri="{BB962C8B-B14F-4D97-AF65-F5344CB8AC3E}">
        <p14:creationId xmlns:p14="http://schemas.microsoft.com/office/powerpoint/2010/main" val="8787016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圆角矩形 23">
            <a:extLst>
              <a:ext uri="{FF2B5EF4-FFF2-40B4-BE49-F238E27FC236}">
                <a16:creationId xmlns:a16="http://schemas.microsoft.com/office/drawing/2014/main" id="{7C5E4D74-BBE7-94FA-DD07-92CE5F5D8EC3}"/>
              </a:ext>
            </a:extLst>
          </p:cNvPr>
          <p:cNvSpPr/>
          <p:nvPr/>
        </p:nvSpPr>
        <p:spPr>
          <a:xfrm>
            <a:off x="7700195" y="5176011"/>
            <a:ext cx="1936174" cy="46166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圆角矩形 22">
            <a:extLst>
              <a:ext uri="{FF2B5EF4-FFF2-40B4-BE49-F238E27FC236}">
                <a16:creationId xmlns:a16="http://schemas.microsoft.com/office/drawing/2014/main" id="{85289DF9-B268-D7EC-35F8-37EAED6368E6}"/>
              </a:ext>
            </a:extLst>
          </p:cNvPr>
          <p:cNvSpPr/>
          <p:nvPr/>
        </p:nvSpPr>
        <p:spPr>
          <a:xfrm>
            <a:off x="1648069" y="5169501"/>
            <a:ext cx="4751598" cy="46166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71EF7E2D-F132-CBC7-0D06-4DEC0DCB0A05}"/>
              </a:ext>
            </a:extLst>
          </p:cNvPr>
          <p:cNvSpPr/>
          <p:nvPr/>
        </p:nvSpPr>
        <p:spPr>
          <a:xfrm>
            <a:off x="5886550" y="4556165"/>
            <a:ext cx="3253982" cy="46166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F4854AF2-C972-B1DF-33A6-ADA5F1CD9979}"/>
              </a:ext>
            </a:extLst>
          </p:cNvPr>
          <p:cNvSpPr/>
          <p:nvPr/>
        </p:nvSpPr>
        <p:spPr>
          <a:xfrm>
            <a:off x="1480457" y="4556165"/>
            <a:ext cx="3253982" cy="46166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51FD6F1-B1F5-EC9B-6499-7D91DFAE0A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AFD8FC-0611-4C63-AEFC-C9ED73E27A74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B1C1549-DB80-D6CB-22A2-F3446CB9CF2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5937" y="1104901"/>
            <a:ext cx="11160125" cy="3147786"/>
          </a:xfrm>
        </p:spPr>
        <p:txBody>
          <a:bodyPr/>
          <a:lstStyle/>
          <a:p>
            <a:r>
              <a:rPr lang="zh-CN" altLang="zh-CN" dirty="0"/>
              <a:t>传统 BFS/A* 可以求最短路径，但每个状态都要重新搜索。</a:t>
            </a:r>
            <a:endParaRPr lang="en-US" altLang="zh-CN" dirty="0"/>
          </a:p>
          <a:p>
            <a:r>
              <a:rPr lang="zh-CN" altLang="zh-CN" dirty="0"/>
              <a:t>本实验把路径规划转成监督学习分类任务。</a:t>
            </a:r>
            <a:endParaRPr lang="en-US" altLang="zh-CN" dirty="0"/>
          </a:p>
          <a:p>
            <a:pPr lvl="1"/>
            <a:r>
              <a:rPr lang="zh-CN" altLang="zh-CN" dirty="0"/>
              <a:t>输入：当前位置、目标位置、局部障碍信息。</a:t>
            </a:r>
            <a:endParaRPr lang="en-US" altLang="zh-CN" dirty="0"/>
          </a:p>
          <a:p>
            <a:pPr lvl="1"/>
            <a:r>
              <a:rPr lang="zh-CN" altLang="zh-CN" dirty="0"/>
              <a:t>输出：下一步动作 </a:t>
            </a:r>
            <a:r>
              <a:rPr lang="zh-CN" altLang="zh-CN" dirty="0">
                <a:solidFill>
                  <a:schemeClr val="tx1"/>
                </a:solidFill>
              </a:rPr>
              <a:t>up / down / left / right</a:t>
            </a:r>
            <a:r>
              <a:rPr lang="zh-CN" altLang="zh-CN" dirty="0"/>
              <a:t>。</a:t>
            </a:r>
            <a:endParaRPr lang="en-US" altLang="zh-CN" dirty="0"/>
          </a:p>
          <a:p>
            <a:pPr lvl="1"/>
            <a:r>
              <a:rPr lang="zh-CN" altLang="zh-CN" dirty="0"/>
              <a:t>标签：由 BFS 最短路径自动生成。</a:t>
            </a:r>
            <a:endParaRPr kumimoji="1" lang="zh-CN" altLang="en-US" dirty="0"/>
          </a:p>
          <a:p>
            <a:endParaRPr kumimoji="1"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C4D8234-1601-85B6-1C11-09C4FC0C08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zh-CN" altLang="en-US" dirty="0"/>
              <a:t>研究背景 </a:t>
            </a:r>
            <a:r>
              <a:rPr kumimoji="1" lang="en-US" altLang="zh-CN" dirty="0"/>
              <a:t>&amp;</a:t>
            </a:r>
            <a:r>
              <a:rPr kumimoji="1" lang="zh-CN" altLang="en-US" dirty="0"/>
              <a:t> 问题定义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8783B7CD-C3F0-8179-1910-A84ED3919661}"/>
              </a:ext>
            </a:extLst>
          </p:cNvPr>
          <p:cNvGrpSpPr/>
          <p:nvPr/>
        </p:nvGrpSpPr>
        <p:grpSpPr>
          <a:xfrm>
            <a:off x="1595438" y="4556165"/>
            <a:ext cx="8458596" cy="1075001"/>
            <a:chOff x="1291771" y="4173549"/>
            <a:chExt cx="8458596" cy="1075001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916D183-698A-C04F-0D64-EB9524F3F6B9}"/>
                </a:ext>
              </a:extLst>
            </p:cNvPr>
            <p:cNvSpPr txBox="1"/>
            <p:nvPr/>
          </p:nvSpPr>
          <p:spPr>
            <a:xfrm>
              <a:off x="1291771" y="4786885"/>
              <a:ext cx="4804229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zh-CN" altLang="zh-CN" sz="2400" b="1" dirty="0">
                  <a:latin typeface="SimHei" panose="02010609060101010101" pitchFamily="49" charset="-122"/>
                  <a:ea typeface="SimHei" panose="02010609060101010101" pitchFamily="49" charset="-122"/>
                </a:rPr>
                <a:t>(state feature, expert action</a:t>
              </a:r>
              <a:r>
                <a:rPr lang="en-US" altLang="zh-CN" sz="2400" b="1" dirty="0">
                  <a:latin typeface="SimHei" panose="02010609060101010101" pitchFamily="49" charset="-122"/>
                  <a:ea typeface="SimHei" panose="02010609060101010101" pitchFamily="49" charset="-122"/>
                </a:rPr>
                <a:t>)</a:t>
              </a:r>
              <a:endParaRPr lang="zh-CN" altLang="zh-CN" sz="2400" b="1" dirty="0">
                <a:latin typeface="SimHei" panose="02010609060101010101" pitchFamily="49" charset="-122"/>
                <a:ea typeface="SimHei" panose="02010609060101010101" pitchFamily="49" charset="-122"/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BA3F2D60-3DEC-FB8E-5B2B-65D26DB52DBB}"/>
                </a:ext>
              </a:extLst>
            </p:cNvPr>
            <p:cNvSpPr txBox="1"/>
            <p:nvPr/>
          </p:nvSpPr>
          <p:spPr>
            <a:xfrm>
              <a:off x="1291771" y="4173550"/>
              <a:ext cx="3139001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kumimoji="1" lang="en-US" altLang="zh-CN" sz="2400" b="1" dirty="0">
                  <a:latin typeface="SimHei" panose="02010609060101010101" pitchFamily="49" charset="-122"/>
                  <a:ea typeface="SimHei" panose="02010609060101010101" pitchFamily="49" charset="-122"/>
                </a:rPr>
                <a:t>Grid</a:t>
              </a:r>
              <a:r>
                <a:rPr kumimoji="1" lang="zh-CN" altLang="en-US" sz="2400" b="1" dirty="0">
                  <a:latin typeface="SimHei" panose="02010609060101010101" pitchFamily="49" charset="-122"/>
                  <a:ea typeface="SimHei" panose="02010609060101010101" pitchFamily="49" charset="-122"/>
                </a:rPr>
                <a:t> </a:t>
              </a:r>
              <a:r>
                <a:rPr kumimoji="1" lang="en-US" altLang="zh-CN" sz="2400" b="1" dirty="0">
                  <a:latin typeface="SimHei" panose="02010609060101010101" pitchFamily="49" charset="-122"/>
                  <a:ea typeface="SimHei" panose="02010609060101010101" pitchFamily="49" charset="-122"/>
                </a:rPr>
                <a:t>+</a:t>
              </a:r>
              <a:r>
                <a:rPr kumimoji="1" lang="zh-CN" altLang="en-US" sz="2400" b="1" dirty="0">
                  <a:latin typeface="SimHei" panose="02010609060101010101" pitchFamily="49" charset="-122"/>
                  <a:ea typeface="SimHei" panose="02010609060101010101" pitchFamily="49" charset="-122"/>
                </a:rPr>
                <a:t> </a:t>
              </a:r>
              <a:r>
                <a:rPr kumimoji="1" lang="en-US" altLang="zh-CN" sz="2400" b="1" dirty="0">
                  <a:latin typeface="SimHei" panose="02010609060101010101" pitchFamily="49" charset="-122"/>
                  <a:ea typeface="SimHei" panose="02010609060101010101" pitchFamily="49" charset="-122"/>
                </a:rPr>
                <a:t>Start</a:t>
              </a:r>
              <a:r>
                <a:rPr kumimoji="1" lang="zh-CN" altLang="en-US" sz="2400" b="1" dirty="0">
                  <a:latin typeface="SimHei" panose="02010609060101010101" pitchFamily="49" charset="-122"/>
                  <a:ea typeface="SimHei" panose="02010609060101010101" pitchFamily="49" charset="-122"/>
                </a:rPr>
                <a:t> </a:t>
              </a:r>
              <a:r>
                <a:rPr kumimoji="1" lang="en-US" altLang="zh-CN" sz="2400" b="1" dirty="0">
                  <a:latin typeface="SimHei" panose="02010609060101010101" pitchFamily="49" charset="-122"/>
                  <a:ea typeface="SimHei" panose="02010609060101010101" pitchFamily="49" charset="-122"/>
                </a:rPr>
                <a:t>/</a:t>
              </a:r>
              <a:r>
                <a:rPr kumimoji="1" lang="zh-CN" altLang="en-US" sz="2400" b="1" dirty="0">
                  <a:latin typeface="SimHei" panose="02010609060101010101" pitchFamily="49" charset="-122"/>
                  <a:ea typeface="SimHei" panose="02010609060101010101" pitchFamily="49" charset="-122"/>
                </a:rPr>
                <a:t> </a:t>
              </a:r>
              <a:r>
                <a:rPr kumimoji="1" lang="en-US" altLang="zh-CN" sz="2400" b="1" dirty="0">
                  <a:latin typeface="SimHei" panose="02010609060101010101" pitchFamily="49" charset="-122"/>
                  <a:ea typeface="SimHei" panose="02010609060101010101" pitchFamily="49" charset="-122"/>
                </a:rPr>
                <a:t>Goal</a:t>
              </a:r>
              <a:endParaRPr kumimoji="1"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endParaRPr>
            </a:p>
          </p:txBody>
        </p:sp>
        <p:sp>
          <p:nvSpPr>
            <p:cNvPr id="13" name="右箭头 12">
              <a:extLst>
                <a:ext uri="{FF2B5EF4-FFF2-40B4-BE49-F238E27FC236}">
                  <a16:creationId xmlns:a16="http://schemas.microsoft.com/office/drawing/2014/main" id="{4179EDE9-A3EE-82A2-FF61-03716F913B29}"/>
                </a:ext>
              </a:extLst>
            </p:cNvPr>
            <p:cNvSpPr/>
            <p:nvPr/>
          </p:nvSpPr>
          <p:spPr>
            <a:xfrm>
              <a:off x="4669382" y="4331733"/>
              <a:ext cx="726848" cy="230833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b="1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77F92867-0E8E-BDBF-B9FC-E6D45937AEBA}"/>
                </a:ext>
              </a:extLst>
            </p:cNvPr>
            <p:cNvSpPr txBox="1"/>
            <p:nvPr/>
          </p:nvSpPr>
          <p:spPr>
            <a:xfrm>
              <a:off x="5809491" y="4173549"/>
              <a:ext cx="280076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2400" b="1" dirty="0">
                  <a:latin typeface="SimHei" panose="02010609060101010101" pitchFamily="49" charset="-122"/>
                  <a:ea typeface="SimHei" panose="02010609060101010101" pitchFamily="49" charset="-122"/>
                </a:rPr>
                <a:t>BFS</a:t>
              </a:r>
              <a:r>
                <a:rPr kumimoji="1" lang="zh-CN" altLang="en-US" sz="2400" b="1" dirty="0">
                  <a:latin typeface="SimHei" panose="02010609060101010101" pitchFamily="49" charset="-122"/>
                  <a:ea typeface="SimHei" panose="02010609060101010101" pitchFamily="49" charset="-122"/>
                </a:rPr>
                <a:t> </a:t>
              </a:r>
              <a:r>
                <a:rPr kumimoji="1" lang="en-US" altLang="zh-CN" sz="2400" b="1" dirty="0">
                  <a:latin typeface="SimHei" panose="02010609060101010101" pitchFamily="49" charset="-122"/>
                  <a:ea typeface="SimHei" panose="02010609060101010101" pitchFamily="49" charset="-122"/>
                </a:rPr>
                <a:t>shortest</a:t>
              </a:r>
              <a:r>
                <a:rPr kumimoji="1" lang="zh-CN" altLang="en-US" sz="2400" b="1" dirty="0">
                  <a:latin typeface="SimHei" panose="02010609060101010101" pitchFamily="49" charset="-122"/>
                  <a:ea typeface="SimHei" panose="02010609060101010101" pitchFamily="49" charset="-122"/>
                </a:rPr>
                <a:t> </a:t>
              </a:r>
              <a:r>
                <a:rPr kumimoji="1" lang="en-US" altLang="zh-CN" sz="2400" b="1" dirty="0">
                  <a:latin typeface="SimHei" panose="02010609060101010101" pitchFamily="49" charset="-122"/>
                  <a:ea typeface="SimHei" panose="02010609060101010101" pitchFamily="49" charset="-122"/>
                </a:rPr>
                <a:t>path</a:t>
              </a:r>
              <a:endParaRPr kumimoji="1"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39D349FF-CC04-0AE1-D819-C0E9289D5DAB}"/>
                </a:ext>
              </a:extLst>
            </p:cNvPr>
            <p:cNvSpPr txBox="1"/>
            <p:nvPr/>
          </p:nvSpPr>
          <p:spPr>
            <a:xfrm>
              <a:off x="7512300" y="4786885"/>
              <a:ext cx="17235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2400" b="1" dirty="0">
                  <a:latin typeface="SimHei" panose="02010609060101010101" pitchFamily="49" charset="-122"/>
                  <a:ea typeface="SimHei" panose="02010609060101010101" pitchFamily="49" charset="-122"/>
                </a:rPr>
                <a:t>Classifier</a:t>
              </a:r>
              <a:endParaRPr kumimoji="1"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endParaRPr>
            </a:p>
          </p:txBody>
        </p:sp>
        <p:sp>
          <p:nvSpPr>
            <p:cNvPr id="16" name="右箭头 15">
              <a:extLst>
                <a:ext uri="{FF2B5EF4-FFF2-40B4-BE49-F238E27FC236}">
                  <a16:creationId xmlns:a16="http://schemas.microsoft.com/office/drawing/2014/main" id="{C4F2D098-CAAF-AEB6-A378-70CF4ED6A88C}"/>
                </a:ext>
              </a:extLst>
            </p:cNvPr>
            <p:cNvSpPr/>
            <p:nvPr/>
          </p:nvSpPr>
          <p:spPr>
            <a:xfrm>
              <a:off x="9023519" y="4331733"/>
              <a:ext cx="726848" cy="230833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b="1"/>
            </a:p>
          </p:txBody>
        </p:sp>
        <p:sp>
          <p:nvSpPr>
            <p:cNvPr id="17" name="右箭头 16">
              <a:extLst>
                <a:ext uri="{FF2B5EF4-FFF2-40B4-BE49-F238E27FC236}">
                  <a16:creationId xmlns:a16="http://schemas.microsoft.com/office/drawing/2014/main" id="{CC550E35-14D6-3C00-26AF-753A21C6E9AE}"/>
                </a:ext>
              </a:extLst>
            </p:cNvPr>
            <p:cNvSpPr/>
            <p:nvPr/>
          </p:nvSpPr>
          <p:spPr>
            <a:xfrm>
              <a:off x="6483026" y="4902300"/>
              <a:ext cx="726848" cy="230833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b="1"/>
            </a:p>
          </p:txBody>
        </p:sp>
      </p:grpSp>
    </p:spTree>
    <p:extLst>
      <p:ext uri="{BB962C8B-B14F-4D97-AF65-F5344CB8AC3E}">
        <p14:creationId xmlns:p14="http://schemas.microsoft.com/office/powerpoint/2010/main" val="1502345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25D39-7FC6-0CBC-76C4-891CAD468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A054BEE4-E210-2F2F-CCFE-DA3384DDDE7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3365" y="1124778"/>
            <a:ext cx="12038920" cy="1781668"/>
          </a:xfrm>
        </p:spPr>
        <p:txBody>
          <a:bodyPr/>
          <a:lstStyle/>
          <a:p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按地图划分 </a:t>
            </a:r>
            <a:r>
              <a:rPr lang="en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train / </a:t>
            </a:r>
            <a:r>
              <a:rPr lang="en" altLang="zh-CN" sz="2400" dirty="0" err="1">
                <a:latin typeface="Arial" panose="020B0604020202020204" pitchFamily="34" charset="0"/>
                <a:cs typeface="Arial" panose="020B0604020202020204" pitchFamily="34" charset="0"/>
              </a:rPr>
              <a:t>val</a:t>
            </a:r>
            <a:r>
              <a:rPr lang="en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/ test</a:t>
            </a:r>
            <a:r>
              <a:rPr lang="zh-CN" altLang="en" sz="2400" dirty="0">
                <a:latin typeface="Arial" panose="020B0604020202020204" pitchFamily="34" charset="0"/>
                <a:cs typeface="Arial" panose="020B0604020202020204" pitchFamily="34" charset="0"/>
              </a:rPr>
              <a:t>，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避免同张地图的相邻状态同时出现在训练和测试中。 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buNone/>
            </a:pP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D775EC5-CD85-70A1-76C9-876CFF25BBA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" dirty="0">
                <a:latin typeface="Arial" panose="020B0604020202020204" pitchFamily="34" charset="0"/>
                <a:cs typeface="Arial" panose="020B0604020202020204" pitchFamily="34" charset="0"/>
              </a:rPr>
              <a:t>数据集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构造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2FA77C5-480E-D2DB-7213-55084DA750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AFD8FC-0611-4C63-AEFC-C9ED73E27A74}" type="slidenum">
              <a:rPr lang="zh-CN" altLang="en-US" smtClean="0"/>
              <a:t>4</a:t>
            </a:fld>
            <a:endParaRPr lang="zh-CN" altLang="en-US"/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58A7C53C-D698-8F6F-492D-6EA2EB591B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4949512"/>
              </p:ext>
            </p:extLst>
          </p:nvPr>
        </p:nvGraphicFramePr>
        <p:xfrm>
          <a:off x="627856" y="1658975"/>
          <a:ext cx="10936288" cy="18015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7997">
                  <a:extLst>
                    <a:ext uri="{9D8B030D-6E8A-4147-A177-3AD203B41FA5}">
                      <a16:colId xmlns:a16="http://schemas.microsoft.com/office/drawing/2014/main" val="3447817833"/>
                    </a:ext>
                  </a:extLst>
                </a:gridCol>
                <a:gridCol w="5268686">
                  <a:extLst>
                    <a:ext uri="{9D8B030D-6E8A-4147-A177-3AD203B41FA5}">
                      <a16:colId xmlns:a16="http://schemas.microsoft.com/office/drawing/2014/main" val="645844951"/>
                    </a:ext>
                  </a:extLst>
                </a:gridCol>
                <a:gridCol w="1538514">
                  <a:extLst>
                    <a:ext uri="{9D8B030D-6E8A-4147-A177-3AD203B41FA5}">
                      <a16:colId xmlns:a16="http://schemas.microsoft.com/office/drawing/2014/main" val="3828615288"/>
                    </a:ext>
                  </a:extLst>
                </a:gridCol>
                <a:gridCol w="2561091">
                  <a:extLst>
                    <a:ext uri="{9D8B030D-6E8A-4147-A177-3AD203B41FA5}">
                      <a16:colId xmlns:a16="http://schemas.microsoft.com/office/drawing/2014/main" val="1288935289"/>
                    </a:ext>
                  </a:extLst>
                </a:gridCol>
              </a:tblGrid>
              <a:tr h="597071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Arial" panose="020B0604020202020204" pitchFamily="34" charset="0"/>
                          <a:ea typeface="SimHei" panose="02010609060101010101" pitchFamily="49" charset="-122"/>
                          <a:cs typeface="Arial" panose="020B0604020202020204" pitchFamily="34" charset="0"/>
                        </a:rPr>
                        <a:t>数据集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Arial" panose="020B0604020202020204" pitchFamily="34" charset="0"/>
                          <a:ea typeface="SimHei" panose="02010609060101010101" pitchFamily="49" charset="-122"/>
                          <a:cs typeface="Arial" panose="020B0604020202020204" pitchFamily="34" charset="0"/>
                        </a:rPr>
                        <a:t>地图设计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Arial" panose="020B0604020202020204" pitchFamily="34" charset="0"/>
                          <a:ea typeface="SimHei" panose="02010609060101010101" pitchFamily="49" charset="-122"/>
                          <a:cs typeface="Arial" panose="020B0604020202020204" pitchFamily="34" charset="0"/>
                        </a:rPr>
                        <a:t>难度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Arial" panose="020B0604020202020204" pitchFamily="34" charset="0"/>
                          <a:ea typeface="SimHei" panose="02010609060101010101" pitchFamily="49" charset="-122"/>
                          <a:cs typeface="Arial" panose="020B0604020202020204" pitchFamily="34" charset="0"/>
                        </a:rPr>
                        <a:t>样本数量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7821781"/>
                  </a:ext>
                </a:extLst>
              </a:tr>
              <a:tr h="610713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Arial" panose="020B0604020202020204" pitchFamily="34" charset="0"/>
                          <a:ea typeface="SimHei" panose="02010609060101010101" pitchFamily="49" charset="-122"/>
                          <a:cs typeface="Arial" panose="020B0604020202020204" pitchFamily="34" charset="0"/>
                        </a:rPr>
                        <a:t>A</a:t>
                      </a:r>
                      <a:endParaRPr lang="zh-CN" altLang="en-US" dirty="0">
                        <a:latin typeface="Arial" panose="020B0604020202020204" pitchFamily="34" charset="0"/>
                        <a:ea typeface="SimHei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Arial" panose="020B0604020202020204" pitchFamily="34" charset="0"/>
                          <a:ea typeface="SimHei" panose="02010609060101010101" pitchFamily="49" charset="-122"/>
                          <a:cs typeface="Arial" panose="020B0604020202020204" pitchFamily="34" charset="0"/>
                        </a:rPr>
                        <a:t>10×10 </a:t>
                      </a:r>
                      <a:r>
                        <a:rPr lang="zh-CN" altLang="en-US" dirty="0">
                          <a:latin typeface="Arial" panose="020B0604020202020204" pitchFamily="34" charset="0"/>
                          <a:ea typeface="SimHei" panose="02010609060101010101" pitchFamily="49" charset="-122"/>
                          <a:cs typeface="Arial" panose="020B0604020202020204" pitchFamily="34" charset="0"/>
                        </a:rPr>
                        <a:t>随机网格，障碍率 </a:t>
                      </a:r>
                      <a:r>
                        <a:rPr lang="en-US" altLang="zh-CN" dirty="0">
                          <a:latin typeface="Arial" panose="020B0604020202020204" pitchFamily="34" charset="0"/>
                          <a:ea typeface="SimHei" panose="02010609060101010101" pitchFamily="49" charset="-122"/>
                          <a:cs typeface="Arial" panose="020B0604020202020204" pitchFamily="34" charset="0"/>
                        </a:rPr>
                        <a:t>0.10–0.30</a:t>
                      </a:r>
                      <a:endParaRPr lang="zh-CN" altLang="en-US" dirty="0">
                        <a:latin typeface="Arial" panose="020B0604020202020204" pitchFamily="34" charset="0"/>
                        <a:ea typeface="SimHei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Arial" panose="020B0604020202020204" pitchFamily="34" charset="0"/>
                          <a:ea typeface="SimHei" panose="02010609060101010101" pitchFamily="49" charset="-122"/>
                          <a:cs typeface="Arial" panose="020B0604020202020204" pitchFamily="34" charset="0"/>
                        </a:rPr>
                        <a:t>基础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latin typeface="Arial" panose="020B0604020202020204" pitchFamily="34" charset="0"/>
                          <a:ea typeface="SimHei" panose="02010609060101010101" pitchFamily="49" charset="-122"/>
                          <a:cs typeface="Arial" panose="020B0604020202020204" pitchFamily="34" charset="0"/>
                        </a:rPr>
                        <a:t>11030</a:t>
                      </a:r>
                      <a:endParaRPr lang="zh-CN" altLang="en-US" dirty="0">
                        <a:latin typeface="Arial" panose="020B0604020202020204" pitchFamily="34" charset="0"/>
                        <a:ea typeface="SimHei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8166006"/>
                  </a:ext>
                </a:extLst>
              </a:tr>
              <a:tr h="593762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Arial" panose="020B0604020202020204" pitchFamily="34" charset="0"/>
                          <a:ea typeface="SimHei" panose="02010609060101010101" pitchFamily="49" charset="-122"/>
                          <a:cs typeface="Arial" panose="020B0604020202020204" pitchFamily="34" charset="0"/>
                        </a:rPr>
                        <a:t>B</a:t>
                      </a:r>
                      <a:endParaRPr lang="zh-CN" altLang="en-US" dirty="0">
                        <a:latin typeface="Arial" panose="020B0604020202020204" pitchFamily="34" charset="0"/>
                        <a:ea typeface="SimHei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Arial" panose="020B0604020202020204" pitchFamily="34" charset="0"/>
                          <a:ea typeface="SimHei" panose="02010609060101010101" pitchFamily="49" charset="-122"/>
                          <a:cs typeface="Arial" panose="020B0604020202020204" pitchFamily="34" charset="0"/>
                        </a:rPr>
                        <a:t>15×15 / 20×20</a:t>
                      </a:r>
                      <a:r>
                        <a:rPr lang="zh-CN" altLang="en-US" dirty="0">
                          <a:latin typeface="Arial" panose="020B0604020202020204" pitchFamily="34" charset="0"/>
                          <a:ea typeface="SimHei" panose="02010609060101010101" pitchFamily="49" charset="-122"/>
                          <a:cs typeface="Arial" panose="020B0604020202020204" pitchFamily="34" charset="0"/>
                        </a:rPr>
                        <a:t>，障碍率 </a:t>
                      </a:r>
                      <a:r>
                        <a:rPr lang="en-US" altLang="zh-CN" dirty="0">
                          <a:latin typeface="Arial" panose="020B0604020202020204" pitchFamily="34" charset="0"/>
                          <a:ea typeface="SimHei" panose="02010609060101010101" pitchFamily="49" charset="-122"/>
                          <a:cs typeface="Arial" panose="020B0604020202020204" pitchFamily="34" charset="0"/>
                        </a:rPr>
                        <a:t>0.20–0.40</a:t>
                      </a:r>
                      <a:r>
                        <a:rPr lang="zh-CN" altLang="en-US" dirty="0">
                          <a:latin typeface="Arial" panose="020B0604020202020204" pitchFamily="34" charset="0"/>
                          <a:ea typeface="SimHei" panose="02010609060101010101" pitchFamily="49" charset="-122"/>
                          <a:cs typeface="Arial" panose="020B0604020202020204" pitchFamily="34" charset="0"/>
                        </a:rPr>
                        <a:t>，含窄通道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Arial" panose="020B0604020202020204" pitchFamily="34" charset="0"/>
                          <a:ea typeface="SimHei" panose="02010609060101010101" pitchFamily="49" charset="-122"/>
                          <a:cs typeface="Arial" panose="020B0604020202020204" pitchFamily="34" charset="0"/>
                        </a:rPr>
                        <a:t>更难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Arial" panose="020B0604020202020204" pitchFamily="34" charset="0"/>
                          <a:ea typeface="SimHei" panose="02010609060101010101" pitchFamily="49" charset="-122"/>
                          <a:cs typeface="Arial" panose="020B0604020202020204" pitchFamily="34" charset="0"/>
                        </a:rPr>
                        <a:t>11893</a:t>
                      </a:r>
                      <a:endParaRPr lang="zh-CN" altLang="en-US" dirty="0">
                        <a:latin typeface="Arial" panose="020B0604020202020204" pitchFamily="34" charset="0"/>
                        <a:ea typeface="SimHei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5399628"/>
                  </a:ext>
                </a:extLst>
              </a:tr>
            </a:tbl>
          </a:graphicData>
        </a:graphic>
      </p:graphicFrame>
      <p:pic>
        <p:nvPicPr>
          <p:cNvPr id="5" name="图片 4">
            <a:extLst>
              <a:ext uri="{FF2B5EF4-FFF2-40B4-BE49-F238E27FC236}">
                <a16:creationId xmlns:a16="http://schemas.microsoft.com/office/drawing/2014/main" id="{FF6AEFD4-AA8E-FEBC-2D94-45808497E4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7923" y="3605287"/>
            <a:ext cx="3167743" cy="3167743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CDF36E81-0B11-9F08-D447-38425DB61BE9}"/>
              </a:ext>
            </a:extLst>
          </p:cNvPr>
          <p:cNvSpPr txBox="1"/>
          <p:nvPr/>
        </p:nvSpPr>
        <p:spPr>
          <a:xfrm>
            <a:off x="1885498" y="3951555"/>
            <a:ext cx="44114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4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SimHei" panose="02010609060101010101" pitchFamily="49" charset="-122"/>
                <a:ea typeface="SimHei" panose="02010609060101010101" pitchFamily="49" charset="-122"/>
              </a:rPr>
              <a:t>A</a:t>
            </a:r>
            <a:endParaRPr kumimoji="1" lang="zh-CN" altLang="en-US" sz="40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194403C-6B50-5E8E-BCEE-247CFC647F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3863" y="3504419"/>
            <a:ext cx="3369481" cy="3369481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991AA5E8-4E39-099F-D796-A020FBDE45D6}"/>
              </a:ext>
            </a:extLst>
          </p:cNvPr>
          <p:cNvSpPr txBox="1"/>
          <p:nvPr/>
        </p:nvSpPr>
        <p:spPr>
          <a:xfrm>
            <a:off x="6325763" y="3951555"/>
            <a:ext cx="44114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4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SimHei" panose="02010609060101010101" pitchFamily="49" charset="-122"/>
                <a:ea typeface="SimHei" panose="02010609060101010101" pitchFamily="49" charset="-122"/>
              </a:rPr>
              <a:t>B</a:t>
            </a:r>
            <a:endParaRPr kumimoji="1" lang="zh-CN" altLang="en-US" sz="40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500353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FBB24D4-F6D0-4A6D-E68A-EF2E900F27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AFD8FC-0611-4C63-AEFC-C9ED73E27A74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0DA4B65-2753-9850-9FF2-D4D193F89D3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kumimoji="1" lang="en-US" altLang="zh-CN" dirty="0"/>
              <a:t>16</a:t>
            </a:r>
            <a:r>
              <a:rPr kumimoji="1" lang="zh-CN" altLang="en-US" dirty="0"/>
              <a:t>维特征设计</a:t>
            </a:r>
            <a:endParaRPr kumimoji="1" lang="en-US" altLang="zh-CN" dirty="0"/>
          </a:p>
          <a:p>
            <a:pPr lvl="1"/>
            <a:r>
              <a:rPr lang="zh-CN" altLang="zh-CN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目标方向：dx, dy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lvl="1"/>
            <a:r>
              <a:rPr lang="zh-CN" altLang="zh-CN" dirty="0">
                <a:solidFill>
                  <a:schemeClr val="tx1">
                    <a:lumMod val="65000"/>
                    <a:lumOff val="35000"/>
                  </a:schemeClr>
                </a:solidFill>
              </a:rPr>
              <a:t>距离信息：曼哈顿距离、欧式距离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lvl="1"/>
            <a:r>
              <a:rPr lang="zh-CN" altLang="zh-CN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局部障碍：四方向是否被阻挡、3×3/5×5 障碍数量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lvl="1"/>
            <a:r>
              <a:rPr lang="zh-CN" altLang="zh-CN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合法动作与环境： 四方向 legal mask、边界标志、障碍密度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lvl="1"/>
            <a:r>
              <a:rPr kumimoji="1"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模型只能看到当前位置、目标相对关系和局部障碍结构，它要从这些特征中学习</a:t>
            </a:r>
            <a:r>
              <a:rPr kumimoji="1"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下一步该怎么走</a:t>
            </a:r>
            <a:r>
              <a:rPr kumimoji="1"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。</a:t>
            </a:r>
          </a:p>
          <a:p>
            <a:endParaRPr kumimoji="1"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D52F659-A5AD-F055-7A56-792E3F77D36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zh-CN" altLang="en-US" dirty="0"/>
              <a:t>特征设计</a:t>
            </a:r>
          </a:p>
        </p:txBody>
      </p:sp>
    </p:spTree>
    <p:extLst>
      <p:ext uri="{BB962C8B-B14F-4D97-AF65-F5344CB8AC3E}">
        <p14:creationId xmlns:p14="http://schemas.microsoft.com/office/powerpoint/2010/main" val="27915372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61DD39F-E888-C564-3ECB-120D331E27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AFD8FC-0611-4C63-AEFC-C9ED73E27A74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1E0AE5D-DF18-9757-CC30-5039E0C2E20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zh-CN" altLang="en-US" dirty="0"/>
              <a:t>代码结构与主要功能模块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832D831-14DA-291B-1A03-7048D0C60BD0}"/>
              </a:ext>
            </a:extLst>
          </p:cNvPr>
          <p:cNvSpPr txBox="1"/>
          <p:nvPr/>
        </p:nvSpPr>
        <p:spPr>
          <a:xfrm>
            <a:off x="489857" y="1271508"/>
            <a:ext cx="3788229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make_data.py</a:t>
            </a:r>
            <a:br>
              <a:rPr lang="zh-CN" altLang="zh-CN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SimHei" panose="02010609060101010101" pitchFamily="49" charset="-122"/>
                <a:ea typeface="SimHei" panose="02010609060101010101" pitchFamily="49" charset="-122"/>
              </a:rPr>
            </a:br>
            <a:r>
              <a:rPr lang="zh-CN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生成 A/B 数据集</a:t>
            </a:r>
            <a:br>
              <a:rPr lang="zh-CN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SimHei" panose="02010609060101010101" pitchFamily="49" charset="-122"/>
                <a:ea typeface="SimHei" panose="02010609060101010101" pitchFamily="49" charset="-122"/>
              </a:rPr>
            </a:br>
            <a:br>
              <a:rPr lang="zh-CN" altLang="zh-CN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SimHei" panose="02010609060101010101" pitchFamily="49" charset="-122"/>
                <a:ea typeface="SimHei" panose="02010609060101010101" pitchFamily="49" charset="-122"/>
              </a:rPr>
            </a:br>
            <a:r>
              <a:rPr lang="zh-CN" altLang="zh-CN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train_eval.py</a:t>
            </a:r>
            <a:br>
              <a:rPr lang="zh-CN" altLang="zh-CN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SimHei" panose="02010609060101010101" pitchFamily="49" charset="-122"/>
                <a:ea typeface="SimHei" panose="02010609060101010101" pitchFamily="49" charset="-122"/>
              </a:rPr>
            </a:br>
            <a:r>
              <a:rPr lang="zh-CN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训练模型 + 验证集调参 + 单步预测评价</a:t>
            </a:r>
            <a:br>
              <a:rPr lang="zh-CN" altLang="zh-CN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SimHei" panose="02010609060101010101" pitchFamily="49" charset="-122"/>
                <a:ea typeface="SimHei" panose="02010609060101010101" pitchFamily="49" charset="-122"/>
              </a:rPr>
            </a:br>
            <a:br>
              <a:rPr lang="zh-CN" altLang="zh-CN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SimHei" panose="02010609060101010101" pitchFamily="49" charset="-122"/>
                <a:ea typeface="SimHei" panose="02010609060101010101" pitchFamily="49" charset="-122"/>
              </a:rPr>
            </a:br>
            <a:r>
              <a:rPr lang="zh-CN" altLang="zh-CN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rollout_eval.py</a:t>
            </a:r>
            <a:br>
              <a:rPr lang="zh-CN" altLang="zh-CN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SimHei" panose="02010609060101010101" pitchFamily="49" charset="-122"/>
                <a:ea typeface="SimHei" panose="02010609060101010101" pitchFamily="49" charset="-122"/>
              </a:rPr>
            </a:br>
            <a:r>
              <a:rPr lang="zh-CN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闭环导航评价</a:t>
            </a:r>
            <a:br>
              <a:rPr lang="zh-CN" altLang="zh-CN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SimHei" panose="02010609060101010101" pitchFamily="49" charset="-122"/>
                <a:ea typeface="SimHei" panose="02010609060101010101" pitchFamily="49" charset="-122"/>
              </a:rPr>
            </a:br>
            <a:br>
              <a:rPr lang="zh-CN" altLang="zh-CN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SimHei" panose="02010609060101010101" pitchFamily="49" charset="-122"/>
                <a:ea typeface="SimHei" panose="02010609060101010101" pitchFamily="49" charset="-122"/>
              </a:rPr>
            </a:br>
            <a:r>
              <a:rPr lang="zh-CN" altLang="zh-CN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ablation.py</a:t>
            </a:r>
            <a:br>
              <a:rPr lang="zh-CN" altLang="zh-CN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SimHei" panose="02010609060101010101" pitchFamily="49" charset="-122"/>
                <a:ea typeface="SimHei" panose="02010609060101010101" pitchFamily="49" charset="-122"/>
              </a:rPr>
            </a:br>
            <a:r>
              <a:rPr lang="zh-CN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特征消融实验</a:t>
            </a:r>
            <a:endParaRPr kumimoji="1" lang="zh-CN" altLang="en-US" sz="2800" dirty="0">
              <a:solidFill>
                <a:schemeClr val="tx1">
                  <a:lumMod val="65000"/>
                  <a:lumOff val="35000"/>
                </a:schemeClr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6" name="下箭头 5">
            <a:extLst>
              <a:ext uri="{FF2B5EF4-FFF2-40B4-BE49-F238E27FC236}">
                <a16:creationId xmlns:a16="http://schemas.microsoft.com/office/drawing/2014/main" id="{454D6B1B-5943-955A-9BDC-1E08901B1CEC}"/>
              </a:ext>
            </a:extLst>
          </p:cNvPr>
          <p:cNvSpPr/>
          <p:nvPr/>
        </p:nvSpPr>
        <p:spPr>
          <a:xfrm>
            <a:off x="1497464" y="2188029"/>
            <a:ext cx="233362" cy="408215"/>
          </a:xfrm>
          <a:prstGeom prst="down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下箭头 6">
            <a:extLst>
              <a:ext uri="{FF2B5EF4-FFF2-40B4-BE49-F238E27FC236}">
                <a16:creationId xmlns:a16="http://schemas.microsoft.com/office/drawing/2014/main" id="{4FF916DD-E234-6E8F-EE83-EA4A7BB435FC}"/>
              </a:ext>
            </a:extLst>
          </p:cNvPr>
          <p:cNvSpPr/>
          <p:nvPr/>
        </p:nvSpPr>
        <p:spPr>
          <a:xfrm>
            <a:off x="1478754" y="4998658"/>
            <a:ext cx="233362" cy="408215"/>
          </a:xfrm>
          <a:prstGeom prst="down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下箭头 7">
            <a:extLst>
              <a:ext uri="{FF2B5EF4-FFF2-40B4-BE49-F238E27FC236}">
                <a16:creationId xmlns:a16="http://schemas.microsoft.com/office/drawing/2014/main" id="{A818AB9E-1F2D-79CA-3514-021FDA2FABB8}"/>
              </a:ext>
            </a:extLst>
          </p:cNvPr>
          <p:cNvSpPr/>
          <p:nvPr/>
        </p:nvSpPr>
        <p:spPr>
          <a:xfrm>
            <a:off x="1481135" y="3764796"/>
            <a:ext cx="233362" cy="408215"/>
          </a:xfrm>
          <a:prstGeom prst="down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78324A6B-B68B-3EC7-4493-BFBF731934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3915" y="1106076"/>
            <a:ext cx="6750385" cy="5317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9187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CF529D1-A1C8-EDF9-9EAE-88A75F3910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AFD8FC-0611-4C63-AEFC-C9ED73E27A74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A0B607C-D811-76A0-2465-511F35C5A04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kumimoji="1" lang="zh-CN" altLang="en-US" dirty="0"/>
              <a:t>比较的模型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A516BF6-BADD-E5CD-3443-77537371B1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zh-CN" altLang="en-US" dirty="0"/>
              <a:t>实验结果，分析与结论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6600F4F1-7FDC-6B89-7488-5C5ED68502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5525346"/>
              </p:ext>
            </p:extLst>
          </p:nvPr>
        </p:nvGraphicFramePr>
        <p:xfrm>
          <a:off x="666569" y="1734575"/>
          <a:ext cx="11160125" cy="504125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71484">
                  <a:extLst>
                    <a:ext uri="{9D8B030D-6E8A-4147-A177-3AD203B41FA5}">
                      <a16:colId xmlns:a16="http://schemas.microsoft.com/office/drawing/2014/main" val="3937489791"/>
                    </a:ext>
                  </a:extLst>
                </a:gridCol>
                <a:gridCol w="3391975">
                  <a:extLst>
                    <a:ext uri="{9D8B030D-6E8A-4147-A177-3AD203B41FA5}">
                      <a16:colId xmlns:a16="http://schemas.microsoft.com/office/drawing/2014/main" val="1436827876"/>
                    </a:ext>
                  </a:extLst>
                </a:gridCol>
                <a:gridCol w="5996666">
                  <a:extLst>
                    <a:ext uri="{9D8B030D-6E8A-4147-A177-3AD203B41FA5}">
                      <a16:colId xmlns:a16="http://schemas.microsoft.com/office/drawing/2014/main" val="3005496179"/>
                    </a:ext>
                  </a:extLst>
                </a:gridCol>
              </a:tblGrid>
              <a:tr h="24296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2400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类别</a:t>
                      </a:r>
                      <a:endParaRPr lang="zh-CN" sz="2800"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2400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算法</a:t>
                      </a:r>
                      <a:endParaRPr lang="zh-CN" sz="2800"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2400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主要作用</a:t>
                      </a:r>
                      <a:endParaRPr lang="zh-CN" sz="2800"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550414454"/>
                  </a:ext>
                </a:extLst>
              </a:tr>
              <a:tr h="38970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2400" dirty="0" err="1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基线</a:t>
                      </a:r>
                      <a:endParaRPr lang="zh-CN" sz="2800" dirty="0"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2400" dirty="0" err="1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贪心动作选择</a:t>
                      </a:r>
                      <a:endParaRPr lang="zh-CN" sz="2800" dirty="0"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zh-CN" sz="2400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选择使曼哈顿距离下降最快的合法动作</a:t>
                      </a:r>
                      <a:endParaRPr lang="zh-CN" sz="2800"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39244763"/>
                  </a:ext>
                </a:extLst>
              </a:tr>
              <a:tr h="24296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2400" dirty="0" err="1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基于实例</a:t>
                      </a:r>
                      <a:endParaRPr lang="zh-CN" sz="2800" dirty="0"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2400" dirty="0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KNN</a:t>
                      </a:r>
                      <a:endParaRPr lang="zh-CN" sz="2800" dirty="0"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zh-CN" sz="2400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由相似历史状态投票决定动作</a:t>
                      </a:r>
                      <a:endParaRPr lang="zh-CN" sz="2800"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70917865"/>
                  </a:ext>
                </a:extLst>
              </a:tr>
              <a:tr h="40351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2400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基于实例</a:t>
                      </a:r>
                      <a:endParaRPr lang="zh-CN" sz="2800"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2400" dirty="0" err="1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距离加权</a:t>
                      </a:r>
                      <a:r>
                        <a:rPr lang="en-US" sz="2400" dirty="0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 KNN</a:t>
                      </a:r>
                      <a:endParaRPr lang="zh-CN" sz="2800" dirty="0"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zh-CN" sz="2400" dirty="0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距离越近权重越高，降低远邻噪声</a:t>
                      </a:r>
                      <a:endParaRPr lang="zh-CN" sz="2800" dirty="0"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84204367"/>
                  </a:ext>
                </a:extLst>
              </a:tr>
              <a:tr h="41212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2400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贝叶斯</a:t>
                      </a:r>
                      <a:endParaRPr lang="zh-CN" sz="2800"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2400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Gaussian Naive Bayes</a:t>
                      </a:r>
                      <a:endParaRPr lang="zh-CN" sz="2800"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zh-CN" sz="2400" dirty="0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基于条件独立假设估计动作后验概率</a:t>
                      </a:r>
                      <a:endParaRPr lang="zh-CN" sz="2800" dirty="0"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319245"/>
                  </a:ext>
                </a:extLst>
              </a:tr>
              <a:tr h="42500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2400" dirty="0" err="1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线性模型</a:t>
                      </a:r>
                      <a:endParaRPr lang="zh-CN" sz="2800" dirty="0"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2400" dirty="0" err="1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多分类逻辑回归</a:t>
                      </a:r>
                      <a:endParaRPr lang="zh-CN" sz="2800" dirty="0"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zh-CN" sz="2400" dirty="0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学习线性决策边界，作为可解释分类基准</a:t>
                      </a:r>
                      <a:endParaRPr lang="zh-CN" sz="2800" dirty="0"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1728629"/>
                  </a:ext>
                </a:extLst>
              </a:tr>
              <a:tr h="24296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2400" dirty="0" err="1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树模型</a:t>
                      </a:r>
                      <a:endParaRPr lang="zh-CN" sz="2800" dirty="0"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2400" dirty="0" err="1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决策树</a:t>
                      </a:r>
                      <a:endParaRPr lang="zh-CN" sz="2800" dirty="0"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zh-CN" sz="2400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学习非线性特征划分规则</a:t>
                      </a:r>
                      <a:endParaRPr lang="zh-CN" sz="2800"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303393731"/>
                  </a:ext>
                </a:extLst>
              </a:tr>
              <a:tr h="39063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2400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无监督辅助</a:t>
                      </a:r>
                      <a:endParaRPr lang="zh-CN" sz="2800"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2400" dirty="0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K-means + </a:t>
                      </a:r>
                      <a:r>
                        <a:rPr lang="en-US" sz="2400" dirty="0" err="1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簇多数标签</a:t>
                      </a:r>
                      <a:endParaRPr lang="zh-CN" sz="2800" dirty="0"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zh-CN" sz="2400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先聚类状态，再以簇内多数动作分类</a:t>
                      </a:r>
                      <a:endParaRPr lang="zh-CN" sz="2800"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51477020"/>
                  </a:ext>
                </a:extLst>
              </a:tr>
              <a:tr h="24296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2400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集成学习</a:t>
                      </a:r>
                      <a:endParaRPr lang="zh-CN" sz="2800"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2400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Bagging 决策树</a:t>
                      </a:r>
                      <a:endParaRPr lang="zh-CN" sz="2800"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zh-CN" sz="2400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对多个重采样树投票，降低方差</a:t>
                      </a:r>
                      <a:endParaRPr lang="zh-CN" sz="2800"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66762940"/>
                  </a:ext>
                </a:extLst>
              </a:tr>
              <a:tr h="24296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2400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集成学习</a:t>
                      </a:r>
                      <a:endParaRPr lang="zh-CN" sz="2800"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2400" dirty="0" err="1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随机森林</a:t>
                      </a:r>
                      <a:endParaRPr lang="zh-CN" sz="2800" dirty="0"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zh-CN" sz="2400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样本与特征随机化的多树投票</a:t>
                      </a:r>
                      <a:endParaRPr lang="zh-CN" sz="2800"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88289183"/>
                  </a:ext>
                </a:extLst>
              </a:tr>
              <a:tr h="39823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2400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集成学习</a:t>
                      </a:r>
                      <a:endParaRPr lang="zh-CN" sz="2800"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2400" dirty="0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AdaBoost</a:t>
                      </a:r>
                      <a:endParaRPr lang="zh-CN" sz="2800" dirty="0"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zh-CN" sz="2400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迭代关注误分样本，组合弱分类器</a:t>
                      </a:r>
                      <a:endParaRPr lang="zh-CN" sz="2800"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868745620"/>
                  </a:ext>
                </a:extLst>
              </a:tr>
              <a:tr h="36060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2400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集成学习</a:t>
                      </a:r>
                      <a:endParaRPr lang="zh-CN" sz="2800"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en-US" sz="2400" dirty="0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Stacking</a:t>
                      </a:r>
                      <a:endParaRPr lang="zh-CN" sz="2800" dirty="0"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200"/>
                        </a:spcAft>
                        <a:buNone/>
                      </a:pPr>
                      <a:r>
                        <a:rPr lang="zh-CN" altLang="en-US" sz="2400" dirty="0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融合多个基学习器输出，最佳组合为</a:t>
                      </a:r>
                      <a:br>
                        <a:rPr lang="en-US" altLang="zh-CN" sz="2400" dirty="0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</a:br>
                      <a:r>
                        <a:rPr lang="zh-CN" altLang="en-US" sz="2400" dirty="0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逻辑回归 </a:t>
                      </a:r>
                      <a:r>
                        <a:rPr lang="en-US" altLang="zh-CN" sz="2400" dirty="0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+ </a:t>
                      </a:r>
                      <a:r>
                        <a:rPr lang="zh-CN" altLang="en-US" sz="2400" dirty="0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决策树 </a:t>
                      </a:r>
                      <a:r>
                        <a:rPr lang="en-US" altLang="zh-CN" sz="2400" dirty="0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+ </a:t>
                      </a:r>
                      <a:r>
                        <a:rPr lang="zh-CN" altLang="en-US" sz="2400" dirty="0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随机森林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016287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91111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11FC0-4DA9-491A-E03D-02D77B1E6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F536EEE-DFE5-F54C-8936-5D79AFA569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AFD8FC-0611-4C63-AEFC-C9ED73E27A74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5F01502-4148-C9CA-8912-8F65E151595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zh-CN" dirty="0"/>
              <a:t>评价指标设计</a:t>
            </a:r>
            <a:endParaRPr lang="en-US" altLang="zh-CN" dirty="0"/>
          </a:p>
          <a:p>
            <a:pPr lvl="1"/>
            <a:r>
              <a:rPr lang="zh-CN" altLang="zh-CN" dirty="0"/>
              <a:t>单步动作预测</a:t>
            </a:r>
            <a:br>
              <a:rPr lang="zh-CN" altLang="zh-CN" dirty="0"/>
            </a:br>
            <a:r>
              <a:rPr lang="zh-CN" altLang="zh-CN" dirty="0"/>
              <a:t>Accuracy、Macro-F1、四类动作 Precision/Recall、混淆矩阵</a:t>
            </a:r>
            <a:br>
              <a:rPr lang="en-US" altLang="zh-CN" dirty="0"/>
            </a:br>
            <a:r>
              <a:rPr lang="zh-CN" altLang="zh-CN" dirty="0">
                <a:solidFill>
                  <a:schemeClr val="accent2"/>
                </a:solidFill>
              </a:rPr>
              <a:t>单步评价：专家路径状态上预测动作是否正确 </a:t>
            </a:r>
          </a:p>
          <a:p>
            <a:pPr lvl="1"/>
            <a:r>
              <a:rPr lang="zh-CN" altLang="zh-CN" dirty="0"/>
              <a:t>闭环导航</a:t>
            </a:r>
            <a:br>
              <a:rPr lang="zh-CN" altLang="zh-CN" dirty="0"/>
            </a:br>
            <a:r>
              <a:rPr lang="zh-CN" altLang="zh-CN" dirty="0"/>
              <a:t>Success Rate、Path Ratio、Collision Rate、Timeout Rate</a:t>
            </a:r>
            <a:br>
              <a:rPr lang="en-US" altLang="zh-CN" dirty="0"/>
            </a:br>
            <a:r>
              <a:rPr lang="zh-CN" altLang="zh-CN" dirty="0">
                <a:solidFill>
                  <a:schemeClr val="accent2"/>
                </a:solidFill>
              </a:rPr>
              <a:t>闭环评价：模型自己连续行动，直到成功/碰撞/超时</a:t>
            </a:r>
          </a:p>
          <a:p>
            <a:pPr lvl="1"/>
            <a:r>
              <a:rPr lang="zh-CN" altLang="zh-CN" dirty="0"/>
              <a:t>特征消融</a:t>
            </a:r>
            <a:br>
              <a:rPr lang="zh-CN" altLang="zh-CN" dirty="0"/>
            </a:br>
            <a:r>
              <a:rPr lang="zh-CN" altLang="zh-CN" dirty="0"/>
              <a:t>删除某组特征后重新调参，观察 Macro-F1 变化 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FE8543F-6093-B981-2C07-47FA78464F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zh-CN" altLang="en-US" dirty="0"/>
              <a:t>实验结果，分析与结论</a:t>
            </a:r>
          </a:p>
        </p:txBody>
      </p:sp>
    </p:spTree>
    <p:extLst>
      <p:ext uri="{BB962C8B-B14F-4D97-AF65-F5344CB8AC3E}">
        <p14:creationId xmlns:p14="http://schemas.microsoft.com/office/powerpoint/2010/main" val="37113701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BEE362-2B27-3CC5-F6C3-64A8A0DD7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787917B-4A9F-1995-44C0-FB167B3F6C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AFD8FC-0611-4C63-AEFC-C9ED73E27A74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D657E2D-2775-A7F3-2043-384D9EA9CFC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zh-CN" dirty="0"/>
              <a:t>单步预测结果</a:t>
            </a:r>
            <a:endParaRPr kumimoji="1"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ACFE9C1-8555-5927-B884-B85F3DD610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zh-CN" altLang="en-US" dirty="0"/>
              <a:t>实验结果，分析与结论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A33E9062-63CB-5C3F-BCFC-BD8426E5AA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7871066"/>
              </p:ext>
            </p:extLst>
          </p:nvPr>
        </p:nvGraphicFramePr>
        <p:xfrm>
          <a:off x="720333" y="1859796"/>
          <a:ext cx="10751332" cy="4407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7833">
                  <a:extLst>
                    <a:ext uri="{9D8B030D-6E8A-4147-A177-3AD203B41FA5}">
                      <a16:colId xmlns:a16="http://schemas.microsoft.com/office/drawing/2014/main" val="1057214741"/>
                    </a:ext>
                  </a:extLst>
                </a:gridCol>
                <a:gridCol w="2687833">
                  <a:extLst>
                    <a:ext uri="{9D8B030D-6E8A-4147-A177-3AD203B41FA5}">
                      <a16:colId xmlns:a16="http://schemas.microsoft.com/office/drawing/2014/main" val="3223280064"/>
                    </a:ext>
                  </a:extLst>
                </a:gridCol>
                <a:gridCol w="2687833">
                  <a:extLst>
                    <a:ext uri="{9D8B030D-6E8A-4147-A177-3AD203B41FA5}">
                      <a16:colId xmlns:a16="http://schemas.microsoft.com/office/drawing/2014/main" val="915387740"/>
                    </a:ext>
                  </a:extLst>
                </a:gridCol>
                <a:gridCol w="2687833">
                  <a:extLst>
                    <a:ext uri="{9D8B030D-6E8A-4147-A177-3AD203B41FA5}">
                      <a16:colId xmlns:a16="http://schemas.microsoft.com/office/drawing/2014/main" val="2798953611"/>
                    </a:ext>
                  </a:extLst>
                </a:gridCol>
              </a:tblGrid>
              <a:tr h="7120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2400" dirty="0"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模型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2400" dirty="0"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A Macro-F1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2400"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B Macro-F1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2400"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说明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0524705"/>
                  </a:ext>
                </a:extLst>
              </a:tr>
              <a:tr h="7282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2400" dirty="0"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Stacking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2400" dirty="0"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0.8779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2400" dirty="0"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0.8168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2400" dirty="0"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A 最优，综合稳定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5694732"/>
                  </a:ext>
                </a:extLst>
              </a:tr>
              <a:tr h="7282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2400" dirty="0"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Random Forest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2400"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0.8680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2400"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0.8176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2400" dirty="0"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B </a:t>
                      </a:r>
                      <a:r>
                        <a:rPr lang="zh-CN" altLang="en-US" sz="2400" dirty="0"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单步</a:t>
                      </a:r>
                      <a:r>
                        <a:rPr lang="zh-CN" sz="2400" dirty="0"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最优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3911932"/>
                  </a:ext>
                </a:extLst>
              </a:tr>
              <a:tr h="708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2400" dirty="0"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Logistic Regression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2400"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0.8585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2400"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0.8118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2400" dirty="0"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小模型但效果强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0062472"/>
                  </a:ext>
                </a:extLst>
              </a:tr>
              <a:tr h="708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2400" dirty="0"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Greedy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2400"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0.8501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2400"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0.8078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2400"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简单但遇障碍受限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179485"/>
                  </a:ext>
                </a:extLst>
              </a:tr>
              <a:tr h="708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2400" dirty="0"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K-means Majority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2400" dirty="0"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0.4520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2400"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0.4954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2400" dirty="0"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明显较弱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11999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1787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8213EA-AB31-C26A-5573-C2071680E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81ECDA4-E328-CC93-9D47-D2FB3263EC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AFD8FC-0611-4C63-AEFC-C9ED73E27A74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36C5979-5CA9-CDA3-B35D-C2CB1B7698D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5937" y="1104900"/>
            <a:ext cx="11160125" cy="909880"/>
          </a:xfrm>
        </p:spPr>
        <p:txBody>
          <a:bodyPr/>
          <a:lstStyle/>
          <a:p>
            <a:r>
              <a:rPr kumimoji="1" lang="zh-CN" altLang="en-US" dirty="0"/>
              <a:t>混淆矩阵分析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D098673-8A44-51DC-0FBF-31A6AC4BFE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zh-CN" altLang="en-US" dirty="0"/>
              <a:t>实验结果，分析与结论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8C188D2-C21A-EAB1-89E2-008F8A428F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9064" y="1846450"/>
            <a:ext cx="4064000" cy="40640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2D641744-07B0-69AB-8267-3428489B1F69}"/>
              </a:ext>
            </a:extLst>
          </p:cNvPr>
          <p:cNvSpPr txBox="1"/>
          <p:nvPr/>
        </p:nvSpPr>
        <p:spPr>
          <a:xfrm>
            <a:off x="2802199" y="6003404"/>
            <a:ext cx="14285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Stacking</a:t>
            </a:r>
            <a:endParaRPr kumimoji="1" lang="zh-CN" altLang="en-US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69CDA60-0AA2-3A28-DA03-172CE29DCEFB}"/>
              </a:ext>
            </a:extLst>
          </p:cNvPr>
          <p:cNvSpPr txBox="1"/>
          <p:nvPr/>
        </p:nvSpPr>
        <p:spPr>
          <a:xfrm>
            <a:off x="8217366" y="6003404"/>
            <a:ext cx="1117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G</a:t>
            </a:r>
            <a:r>
              <a:rPr lang="zh-CN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reedy</a:t>
            </a:r>
            <a:endParaRPr kumimoji="1" lang="zh-CN" altLang="en-US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42BABB2-D3BB-65F6-0849-0BBB018D1E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2563" y="1846451"/>
            <a:ext cx="4064000" cy="406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5141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3B6B1-3306-8DFA-C6A4-28CF2D657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03BA2AC-BF0D-A690-0341-15FF3C04FD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AFD8FC-0611-4C63-AEFC-C9ED73E27A74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872D9E6-78B4-071E-73E7-2F8427FC843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5937" y="1104901"/>
            <a:ext cx="11160125" cy="816890"/>
          </a:xfrm>
        </p:spPr>
        <p:txBody>
          <a:bodyPr/>
          <a:lstStyle/>
          <a:p>
            <a:r>
              <a:rPr kumimoji="1" lang="zh-CN" altLang="en-US" dirty="0"/>
              <a:t>混淆矩阵分析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2E00674-B982-EF20-A559-FB7E38D3ED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zh-CN" altLang="en-US" dirty="0"/>
              <a:t>实验结果，分析与结论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E2C3BEB-6AF5-7F47-F098-883FF53324B7}"/>
              </a:ext>
            </a:extLst>
          </p:cNvPr>
          <p:cNvSpPr txBox="1"/>
          <p:nvPr/>
        </p:nvSpPr>
        <p:spPr>
          <a:xfrm>
            <a:off x="2544045" y="5935310"/>
            <a:ext cx="22060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R</a:t>
            </a:r>
            <a:r>
              <a:rPr lang="zh-CN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andom</a:t>
            </a:r>
            <a:r>
              <a:rPr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F</a:t>
            </a:r>
            <a:r>
              <a:rPr lang="zh-CN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orest</a:t>
            </a:r>
            <a:endParaRPr kumimoji="1" lang="zh-CN" altLang="en-US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5B699AD-3BDB-4451-2C6F-92E455C6D162}"/>
              </a:ext>
            </a:extLst>
          </p:cNvPr>
          <p:cNvSpPr txBox="1"/>
          <p:nvPr/>
        </p:nvSpPr>
        <p:spPr>
          <a:xfrm>
            <a:off x="7619708" y="5935311"/>
            <a:ext cx="25170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K</a:t>
            </a:r>
            <a:r>
              <a:rPr lang="zh-CN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means</a:t>
            </a:r>
            <a:r>
              <a:rPr lang="zh-CN" altLang="en-US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lang="en-US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M</a:t>
            </a:r>
            <a:r>
              <a:rPr lang="zh-CN" altLang="zh-CN" sz="2400" b="1" dirty="0">
                <a:latin typeface="SimHei" panose="02010609060101010101" pitchFamily="49" charset="-122"/>
                <a:ea typeface="SimHei" panose="02010609060101010101" pitchFamily="49" charset="-122"/>
              </a:rPr>
              <a:t>ajority</a:t>
            </a:r>
            <a:endParaRPr kumimoji="1" lang="zh-CN" altLang="en-US" sz="24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7CF0FEA-22FC-0CEB-65CE-85D99ACAFE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8939" y="1780205"/>
            <a:ext cx="4064000" cy="40640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99002043-5B52-08EA-C575-199D1C1A3E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5438" y="1780205"/>
            <a:ext cx="4064000" cy="406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7128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CDBEF3-7F30-5DF5-298F-A99CB9619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DEC7D2C-FA2E-2E64-9CB9-C53446ABB3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AFD8FC-0611-4C63-AEFC-C9ED73E27A74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8628D66-BBA1-1E90-293B-055F4D64EFB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kumimoji="1" lang="zh-CN" altLang="en-US" dirty="0"/>
              <a:t>闭环导航结果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0D1B1A1-4DCE-7267-7C29-495B214C17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zh-CN" altLang="en-US" dirty="0"/>
              <a:t>实验结果，分析与结论</a:t>
            </a:r>
          </a:p>
          <a:p>
            <a:endParaRPr kumimoji="1" lang="zh-CN" altLang="en-US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BCCD931C-DB00-26D4-8F05-C5118E06B7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1508149"/>
              </p:ext>
            </p:extLst>
          </p:nvPr>
        </p:nvGraphicFramePr>
        <p:xfrm>
          <a:off x="720333" y="1859796"/>
          <a:ext cx="10751332" cy="43875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0772">
                  <a:extLst>
                    <a:ext uri="{9D8B030D-6E8A-4147-A177-3AD203B41FA5}">
                      <a16:colId xmlns:a16="http://schemas.microsoft.com/office/drawing/2014/main" val="1057214741"/>
                    </a:ext>
                  </a:extLst>
                </a:gridCol>
                <a:gridCol w="2014780">
                  <a:extLst>
                    <a:ext uri="{9D8B030D-6E8A-4147-A177-3AD203B41FA5}">
                      <a16:colId xmlns:a16="http://schemas.microsoft.com/office/drawing/2014/main" val="3223280064"/>
                    </a:ext>
                  </a:extLst>
                </a:gridCol>
                <a:gridCol w="1906291">
                  <a:extLst>
                    <a:ext uri="{9D8B030D-6E8A-4147-A177-3AD203B41FA5}">
                      <a16:colId xmlns:a16="http://schemas.microsoft.com/office/drawing/2014/main" val="915387740"/>
                    </a:ext>
                  </a:extLst>
                </a:gridCol>
                <a:gridCol w="3939489">
                  <a:extLst>
                    <a:ext uri="{9D8B030D-6E8A-4147-A177-3AD203B41FA5}">
                      <a16:colId xmlns:a16="http://schemas.microsoft.com/office/drawing/2014/main" val="2798953611"/>
                    </a:ext>
                  </a:extLst>
                </a:gridCol>
              </a:tblGrid>
              <a:tr h="71202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2400"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模型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2400" dirty="0"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A 成功率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2400" dirty="0"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B 成功率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2400" dirty="0"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说明</a:t>
                      </a:r>
                      <a:endParaRPr lang="zh-CN" sz="2400" dirty="0">
                        <a:latin typeface="SimHei" panose="02010609060101010101" pitchFamily="49" charset="-122"/>
                        <a:ea typeface="SimHei" panose="02010609060101010101" pitchFamily="49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0524705"/>
                  </a:ext>
                </a:extLst>
              </a:tr>
              <a:tr h="72829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2400"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Stacking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2400"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0.727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2400"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0.628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2400" dirty="0"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综合最好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5694732"/>
                  </a:ext>
                </a:extLst>
              </a:tr>
              <a:tr h="72829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2400"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Logistic Regression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2400" dirty="0"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0.723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2400"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0.583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2400" dirty="0"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简单但稳定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3911932"/>
                  </a:ext>
                </a:extLst>
              </a:tr>
              <a:tr h="7080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2400"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Random Forest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2400"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0.680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2400"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0.572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2400"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单步强，但闭环超时更多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0062472"/>
                  </a:ext>
                </a:extLst>
              </a:tr>
              <a:tr h="7080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2400"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Greedy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2400"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0.597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2400"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0.422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2400" dirty="0"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容易陷入局部最优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179485"/>
                  </a:ext>
                </a:extLst>
              </a:tr>
              <a:tr h="7080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2400" dirty="0"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K-means Majority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2400" dirty="0"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0.060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2400"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0.011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2400" dirty="0"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闭环基本失败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11999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08451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972E2-426C-0784-605D-A2544B8B5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86C01C8-C90C-3ABF-E6DE-EDA0DAE940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AFD8FC-0611-4C63-AEFC-C9ED73E27A74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70C9283-55BA-4D87-EECB-7CA324C2F15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zh-CN" dirty="0"/>
              <a:t>特征消融结果</a:t>
            </a:r>
            <a:endParaRPr kumimoji="1"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63BCFC2-6498-7297-78B9-5302C3324E3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zh-CN" altLang="en-US" dirty="0"/>
              <a:t>实验结果，分析与结论</a:t>
            </a:r>
          </a:p>
          <a:p>
            <a:endParaRPr kumimoji="1" lang="zh-CN" altLang="en-US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E93CE1CD-6B9B-5BE4-1026-ECCBBF8654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2642359"/>
              </p:ext>
            </p:extLst>
          </p:nvPr>
        </p:nvGraphicFramePr>
        <p:xfrm>
          <a:off x="363872" y="1977038"/>
          <a:ext cx="11464253" cy="4292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9294">
                  <a:extLst>
                    <a:ext uri="{9D8B030D-6E8A-4147-A177-3AD203B41FA5}">
                      <a16:colId xmlns:a16="http://schemas.microsoft.com/office/drawing/2014/main" val="1057214741"/>
                    </a:ext>
                  </a:extLst>
                </a:gridCol>
                <a:gridCol w="2358661">
                  <a:extLst>
                    <a:ext uri="{9D8B030D-6E8A-4147-A177-3AD203B41FA5}">
                      <a16:colId xmlns:a16="http://schemas.microsoft.com/office/drawing/2014/main" val="3223280064"/>
                    </a:ext>
                  </a:extLst>
                </a:gridCol>
                <a:gridCol w="2464230">
                  <a:extLst>
                    <a:ext uri="{9D8B030D-6E8A-4147-A177-3AD203B41FA5}">
                      <a16:colId xmlns:a16="http://schemas.microsoft.com/office/drawing/2014/main" val="915387740"/>
                    </a:ext>
                  </a:extLst>
                </a:gridCol>
                <a:gridCol w="3952068">
                  <a:extLst>
                    <a:ext uri="{9D8B030D-6E8A-4147-A177-3AD203B41FA5}">
                      <a16:colId xmlns:a16="http://schemas.microsoft.com/office/drawing/2014/main" val="2798953611"/>
                    </a:ext>
                  </a:extLst>
                </a:gridCol>
              </a:tblGrid>
              <a:tr h="71202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2400"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消融设置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2400"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A 平均 F1 变化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2400" dirty="0"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B 平均 F1 变化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2400" dirty="0"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结论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0524705"/>
                  </a:ext>
                </a:extLst>
              </a:tr>
              <a:tr h="72829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2400"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去掉 dx/dy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2400"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-0.4118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2400"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-0.3831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2400"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目标相对方向最关键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5694732"/>
                  </a:ext>
                </a:extLst>
              </a:tr>
              <a:tr h="72829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2400" dirty="0"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去掉全部目标信息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2400"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-0.4395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2400"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-0.4035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2400" dirty="0"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没目标几乎无法判断动作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3911932"/>
                  </a:ext>
                </a:extLst>
              </a:tr>
              <a:tr h="7080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2400" dirty="0"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去掉局部障碍信息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2400"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-0.1294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2400"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-0.1660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2400" dirty="0"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复杂地图绕障需要局部结构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0062472"/>
                  </a:ext>
                </a:extLst>
              </a:tr>
              <a:tr h="7080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2400" dirty="0"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去掉距离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2400"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+0.0079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2400"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+0.0048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2400" dirty="0"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距离较冗余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179485"/>
                  </a:ext>
                </a:extLst>
              </a:tr>
              <a:tr h="7080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2400" dirty="0"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去掉边界</a:t>
                      </a:r>
                      <a:r>
                        <a:rPr lang="zh-CN" altLang="en-US" sz="2400" dirty="0"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或</a:t>
                      </a:r>
                      <a:r>
                        <a:rPr lang="zh-CN" sz="2400" dirty="0"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密度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2400" dirty="0"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小幅变化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2400"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小幅变化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2400" dirty="0"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辅助特征，不是核心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11999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83264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5E5F7BE-9E4F-137A-28E7-6585C4B721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AFD8FC-0611-4C63-AEFC-C9ED73E27A74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46D36FC-7CFF-7FCE-64F2-0B68F83FAE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kumimoji="1" lang="zh-CN" altLang="en-US" dirty="0"/>
              <a:t>主要发现</a:t>
            </a:r>
            <a:endParaRPr kumimoji="1" lang="en-US" altLang="zh-CN" dirty="0"/>
          </a:p>
          <a:p>
            <a:pPr lvl="1"/>
            <a:r>
              <a:rPr lang="zh-CN" altLang="zh-CN" dirty="0"/>
              <a:t>Stacking 综合最好。 </a:t>
            </a:r>
          </a:p>
          <a:p>
            <a:pPr lvl="1"/>
            <a:r>
              <a:rPr lang="zh-CN" altLang="zh-CN" dirty="0"/>
              <a:t>随机森林单步泛化强。 </a:t>
            </a:r>
          </a:p>
          <a:p>
            <a:pPr lvl="1"/>
            <a:r>
              <a:rPr lang="zh-CN" altLang="zh-CN" dirty="0"/>
              <a:t>逻辑回归简单、高效、稳定。 </a:t>
            </a:r>
          </a:p>
          <a:p>
            <a:pPr lvl="1"/>
            <a:r>
              <a:rPr lang="zh-CN" altLang="zh-CN" dirty="0"/>
              <a:t>单步准确率不能完全代表闭环能力。 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4E714F5-0FF0-7F90-D743-541C4454D1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zh-CN" altLang="en-US" dirty="0"/>
              <a:t>实验结果，分析与结论</a:t>
            </a: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640506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EC3FBCA-8CEA-C33A-8A32-F3F3D700E4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AFD8FC-0611-4C63-AEFC-C9ED73E27A74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AA8BACA-B477-9D3E-4876-0B923687ED1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kumimoji="1" lang="zh-CN" altLang="en-US" dirty="0"/>
              <a:t>遇到的问题 </a:t>
            </a:r>
            <a:r>
              <a:rPr kumimoji="1" lang="en-US" altLang="zh-CN" dirty="0"/>
              <a:t>&amp;</a:t>
            </a:r>
            <a:r>
              <a:rPr kumimoji="1" lang="zh-CN" altLang="en-US" dirty="0"/>
              <a:t> 解决方案</a:t>
            </a:r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809844E-8EFE-DC94-548F-23FEE83E415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问题、挑战及解决方案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kumimoji="1" lang="zh-CN" altLang="en-US" dirty="0"/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EDBAF61F-29C0-B567-9E08-E671CC4A38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6937672"/>
              </p:ext>
            </p:extLst>
          </p:nvPr>
        </p:nvGraphicFramePr>
        <p:xfrm>
          <a:off x="515937" y="1987449"/>
          <a:ext cx="11375498" cy="40038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06292">
                  <a:extLst>
                    <a:ext uri="{9D8B030D-6E8A-4147-A177-3AD203B41FA5}">
                      <a16:colId xmlns:a16="http://schemas.microsoft.com/office/drawing/2014/main" val="1057214741"/>
                    </a:ext>
                  </a:extLst>
                </a:gridCol>
                <a:gridCol w="6769206">
                  <a:extLst>
                    <a:ext uri="{9D8B030D-6E8A-4147-A177-3AD203B41FA5}">
                      <a16:colId xmlns:a16="http://schemas.microsoft.com/office/drawing/2014/main" val="2798953611"/>
                    </a:ext>
                  </a:extLst>
                </a:gridCol>
              </a:tblGrid>
              <a:tr h="7120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2400"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遇到的问题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2400"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采取的解决方式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0524705"/>
                  </a:ext>
                </a:extLst>
              </a:tr>
              <a:tr h="7282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2400"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随机生成地图可能不可达，或起点终点无效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2400"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用 BFS 检查可达性，跳过不可达、起终点相同、路径过短的地图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5694732"/>
                  </a:ext>
                </a:extLst>
              </a:tr>
              <a:tr h="7282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2400" dirty="0"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状态样本随机划分可能造成数据泄露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2400"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按“地图”划分 train / val / test，而不是按单个状态随机划分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3911932"/>
                  </a:ext>
                </a:extLst>
              </a:tr>
              <a:tr h="708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2400" dirty="0"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多模型调参容易比较不公平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2400" dirty="0"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统一在 A 训练集训练，在 A 验证集按 Macro-F1 选超参数，再测试 A/B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0062472"/>
                  </a:ext>
                </a:extLst>
              </a:tr>
              <a:tr h="708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2400" dirty="0"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闭环执行可能陷入无限循环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2400" dirty="0"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设置最大步数 4HW，并记录 success / collision / timeout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1794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27385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7B102D-DBEE-B23A-CF90-B38BAC9E3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E3E86BC-D743-D0BB-64FD-DE3073E9EA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AFD8FC-0611-4C63-AEFC-C9ED73E27A74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23F345B-7CB4-C699-57A4-DCE1B41DEC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47942" y="3094831"/>
            <a:ext cx="2496115" cy="668337"/>
          </a:xfrm>
        </p:spPr>
        <p:txBody>
          <a:bodyPr/>
          <a:lstStyle/>
          <a:p>
            <a:r>
              <a:rPr kumimoji="1" lang="zh-CN" altLang="en-US" dirty="0"/>
              <a:t>谢谢！</a:t>
            </a:r>
          </a:p>
        </p:txBody>
      </p:sp>
    </p:spTree>
    <p:extLst>
      <p:ext uri="{BB962C8B-B14F-4D97-AF65-F5344CB8AC3E}">
        <p14:creationId xmlns:p14="http://schemas.microsoft.com/office/powerpoint/2010/main" val="20299496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11823</TotalTime>
  <Words>1023</Words>
  <Application>Microsoft Macintosh PowerPoint</Application>
  <PresentationFormat>宽屏</PresentationFormat>
  <Paragraphs>226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5" baseType="lpstr">
      <vt:lpstr>等线</vt:lpstr>
      <vt:lpstr>FangSong</vt:lpstr>
      <vt:lpstr>黑体</vt:lpstr>
      <vt:lpstr>黑体</vt:lpstr>
      <vt:lpstr>Arial</vt:lpstr>
      <vt:lpstr>Bookman Old Style</vt:lpstr>
      <vt:lpstr>Calibri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Zhang Borui</dc:creator>
  <cp:lastModifiedBy>Mac</cp:lastModifiedBy>
  <cp:revision>2790</cp:revision>
  <cp:lastPrinted>2026-05-12T21:10:52Z</cp:lastPrinted>
  <dcterms:created xsi:type="dcterms:W3CDTF">2026-04-01T10:33:50Z</dcterms:created>
  <dcterms:modified xsi:type="dcterms:W3CDTF">2026-06-04T07:17:42Z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2CCB3AA214120CCBED8EC269FE1619E6_42</vt:lpwstr>
  </property>
  <property fmtid="{D5CDD505-2E9C-101B-9397-08002B2CF9AE}" pid="3" name="KSOProductBuildVer">
    <vt:lpwstr>2052-12.1.22553.22553</vt:lpwstr>
  </property>
</Properties>
</file>